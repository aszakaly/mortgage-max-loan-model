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9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306C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E444D"/>
                    </a:solidFill>
                    <a:latin typeface="Courier New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$26k</c:v>
                  </c:pt>
                  <c:pt idx="1">
                    <c:v>$251k</c:v>
                  </c:pt>
                  <c:pt idx="2">
                    <c:v>$475k</c:v>
                  </c:pt>
                  <c:pt idx="3">
                    <c:v>$700k</c:v>
                  </c:pt>
                  <c:pt idx="4">
                    <c:v>$924k</c:v>
                  </c:pt>
                  <c:pt idx="5">
                    <c:v>$1148k</c:v>
                  </c:pt>
                  <c:pt idx="6">
                    <c:v>$1373k</c:v>
                  </c:pt>
                  <c:pt idx="7">
                    <c:v>$1597k</c:v>
                  </c:pt>
                  <c:pt idx="8">
                    <c:v>$1822k</c:v>
                  </c:pt>
                  <c:pt idx="9">
                    <c:v>$2046k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3512</c:v>
                </c:pt>
                <c:pt idx="1">
                  <c:v>12066</c:v>
                </c:pt>
                <c:pt idx="2">
                  <c:v>13779</c:v>
                </c:pt>
                <c:pt idx="3">
                  <c:v>10483</c:v>
                </c:pt>
                <c:pt idx="4">
                  <c:v>6291</c:v>
                </c:pt>
                <c:pt idx="5">
                  <c:v>2745</c:v>
                </c:pt>
                <c:pt idx="6">
                  <c:v>865</c:v>
                </c:pt>
                <c:pt idx="7">
                  <c:v>208</c:v>
                </c:pt>
                <c:pt idx="8">
                  <c:v>37</c:v>
                </c:pt>
                <c:pt idx="9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E444D"/>
                  </a:solidFill>
                  <a:latin typeface="Courier New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8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E44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majorGridlines>
          <c:spPr>
            <a:ln w="6350" cap="flat">
              <a:solidFill>
                <a:srgbClr val="D8DB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D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455E7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E444D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Annual income</c:v>
                  </c:pt>
                  <c:pt idx="1">
                    <c:v>Credit score</c:v>
                  </c:pt>
                  <c:pt idx="2">
                    <c:v>Down payment</c:v>
                  </c:pt>
                  <c:pt idx="3">
                    <c:v>Employment yrs</c:v>
                  </c:pt>
                  <c:pt idx="4">
                    <c:v>Age</c:v>
                  </c:pt>
                  <c:pt idx="5">
                    <c:v>Loans repaid</c:v>
                  </c:pt>
                  <c:pt idx="6">
                    <c:v>Existing debt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0.758</c:v>
                </c:pt>
                <c:pt idx="1">
                  <c:v>0.664</c:v>
                </c:pt>
                <c:pt idx="2">
                  <c:v>0.472</c:v>
                </c:pt>
                <c:pt idx="3">
                  <c:v>0.407</c:v>
                </c:pt>
                <c:pt idx="4">
                  <c:v>0.406</c:v>
                </c:pt>
                <c:pt idx="5">
                  <c:v>0.373</c:v>
                </c:pt>
                <c:pt idx="6">
                  <c:v>0.275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3E444D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E44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majorGridlines>
          <c:spPr>
            <a:ln w="6350" cap="flat">
              <a:solidFill>
                <a:srgbClr val="D8DB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D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306C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E444D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High School</c:v>
                  </c:pt>
                  <c:pt idx="1">
                    <c:v>Bachelor's</c:v>
                  </c:pt>
                  <c:pt idx="2">
                    <c:v>Master's</c:v>
                  </c:pt>
                  <c:pt idx="3">
                    <c:v>PhD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541</c:v>
                </c:pt>
                <c:pt idx="1">
                  <c:v>630</c:v>
                </c:pt>
                <c:pt idx="2">
                  <c:v>706</c:v>
                </c:pt>
                <c:pt idx="3">
                  <c:v>791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E444D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E44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majorGridlines>
          <c:spPr>
            <a:ln w="6350" cap="flat">
              <a:solidFill>
                <a:srgbClr val="D8DB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D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455E7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E444D"/>
                    </a:solidFill>
                    <a:latin typeface="Courier New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Doctor</c:v>
                  </c:pt>
                  <c:pt idx="1">
                    <c:v>Lawyer</c:v>
                  </c:pt>
                  <c:pt idx="2">
                    <c:v>Business Owner</c:v>
                  </c:pt>
                  <c:pt idx="3">
                    <c:v>Sales Manager</c:v>
                  </c:pt>
                  <c:pt idx="4">
                    <c:v>Software Engineer</c:v>
                  </c:pt>
                  <c:pt idx="5">
                    <c:v>Banker</c:v>
                  </c:pt>
                  <c:pt idx="6">
                    <c:v>Retired</c:v>
                  </c:pt>
                  <c:pt idx="7">
                    <c:v>Teacher</c:v>
                  </c:pt>
                  <c:pt idx="8">
                    <c:v>Engineer</c:v>
                  </c:pt>
                  <c:pt idx="9">
                    <c:v>Freelancer</c:v>
                  </c:pt>
                  <c:pt idx="10">
                    <c:v>Accountant</c:v>
                  </c:pt>
                  <c:pt idx="11">
                    <c:v>Nurse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819</c:v>
                </c:pt>
                <c:pt idx="1">
                  <c:v>809</c:v>
                </c:pt>
                <c:pt idx="2">
                  <c:v>807</c:v>
                </c:pt>
                <c:pt idx="3">
                  <c:v>692</c:v>
                </c:pt>
                <c:pt idx="4">
                  <c:v>692</c:v>
                </c:pt>
                <c:pt idx="5">
                  <c:v>686</c:v>
                </c:pt>
                <c:pt idx="6">
                  <c:v>580</c:v>
                </c:pt>
                <c:pt idx="7">
                  <c:v>578</c:v>
                </c:pt>
                <c:pt idx="8">
                  <c:v>575</c:v>
                </c:pt>
                <c:pt idx="9">
                  <c:v>575</c:v>
                </c:pt>
                <c:pt idx="10">
                  <c:v>574</c:v>
                </c:pt>
                <c:pt idx="11">
                  <c:v>573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3E444D"/>
                  </a:solidFill>
                  <a:latin typeface="Courier New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E44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majorGridlines>
          <c:spPr>
            <a:ln w="6350" cap="flat">
              <a:solidFill>
                <a:srgbClr val="D8DB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D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306C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E444D"/>
                    </a:solidFill>
                    <a:latin typeface="Courier New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$-255k</c:v>
                  </c:pt>
                  <c:pt idx="1">
                    <c:v>$-206k</c:v>
                  </c:pt>
                  <c:pt idx="2">
                    <c:v>$-158k</c:v>
                  </c:pt>
                  <c:pt idx="3">
                    <c:v>$-109k</c:v>
                  </c:pt>
                  <c:pt idx="4">
                    <c:v>$-60k</c:v>
                  </c:pt>
                  <c:pt idx="5">
                    <c:v>$-11k</c:v>
                  </c:pt>
                  <c:pt idx="6">
                    <c:v>$38k</c:v>
                  </c:pt>
                  <c:pt idx="7">
                    <c:v>$86k</c:v>
                  </c:pt>
                  <c:pt idx="8">
                    <c:v>$135k</c:v>
                  </c:pt>
                  <c:pt idx="9">
                    <c:v>$184k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7</c:v>
                </c:pt>
                <c:pt idx="2">
                  <c:v>36</c:v>
                </c:pt>
                <c:pt idx="3">
                  <c:v>307</c:v>
                </c:pt>
                <c:pt idx="4">
                  <c:v>2646</c:v>
                </c:pt>
                <c:pt idx="5">
                  <c:v>6132</c:v>
                </c:pt>
                <c:pt idx="6">
                  <c:v>762</c:v>
                </c:pt>
                <c:pt idx="7">
                  <c:v>100</c:v>
                </c:pt>
                <c:pt idx="8">
                  <c:v>5</c:v>
                </c:pt>
                <c:pt idx="9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E444D"/>
                  </a:solidFill>
                  <a:latin typeface="Courier New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E44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majorGridlines>
          <c:spPr>
            <a:ln w="6350" cap="flat">
              <a:solidFill>
                <a:srgbClr val="D8DB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D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MAPE</c:v>
                </c:pt>
              </c:strCache>
            </c:strRef>
          </c:tx>
          <c:spPr>
            <a:solidFill>
              <a:srgbClr val="306CB8"/>
            </a:solidFill>
            <a:ln w="31750" cap="flat">
              <a:solidFill>
                <a:srgbClr val="306C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306CB8"/>
              </a:solidFill>
              <a:ln w="9525" cap="flat">
                <a:solidFill>
                  <a:srgbClr val="306C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&lt;$250k</c:v>
                  </c:pt>
                  <c:pt idx="1">
                    <c:v>$250-500k</c:v>
                  </c:pt>
                  <c:pt idx="2">
                    <c:v>$500-750k</c:v>
                  </c:pt>
                  <c:pt idx="3">
                    <c:v>$750k-1M</c:v>
                  </c:pt>
                  <c:pt idx="4">
                    <c:v>$1-1.5M</c:v>
                  </c:pt>
                  <c:pt idx="5">
                    <c:v>&gt;$1.5M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5.6</c:v>
                </c:pt>
                <c:pt idx="1">
                  <c:v>4</c:v>
                </c:pt>
                <c:pt idx="2">
                  <c:v>3.76</c:v>
                </c:pt>
                <c:pt idx="3">
                  <c:v>3.21</c:v>
                </c:pt>
                <c:pt idx="4">
                  <c:v>2.52</c:v>
                </c:pt>
                <c:pt idx="5">
                  <c:v>2.06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E44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6350" cap="flat">
              <a:solidFill>
                <a:srgbClr val="D8DB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D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306CB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E444D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06C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06C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55E7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55E7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Annual income</c:v>
                  </c:pt>
                  <c:pt idx="1">
                    <c:v>Credit score</c:v>
                  </c:pt>
                  <c:pt idx="2">
                    <c:v>Existing monthly debt</c:v>
                  </c:pt>
                  <c:pt idx="3">
                    <c:v>Down payment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1.44</c:v>
                </c:pt>
                <c:pt idx="1">
                  <c:v>0.65</c:v>
                </c:pt>
                <c:pt idx="2">
                  <c:v>0.34</c:v>
                </c:pt>
                <c:pt idx="3">
                  <c:v>0.03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3E444D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E44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majorGridlines>
          <c:spPr>
            <a:ln w="6350" cap="flat">
              <a:solidFill>
                <a:srgbClr val="D8DB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D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" y="777240"/>
            <a:ext cx="201168" cy="20117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676656"/>
            <a:ext cx="20117" cy="201168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4" name="Shape 2"/>
          <p:cNvSpPr/>
          <p:nvPr/>
        </p:nvSpPr>
        <p:spPr>
          <a:xfrm>
            <a:off x="11237976" y="6080760"/>
            <a:ext cx="201168" cy="20117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5" name="Shape 3"/>
          <p:cNvSpPr/>
          <p:nvPr/>
        </p:nvSpPr>
        <p:spPr>
          <a:xfrm>
            <a:off x="11338560" y="5980176"/>
            <a:ext cx="20117" cy="201168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2656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" y="21031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 RISK · MODEL METHODOLOGY &amp; VALIDATION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86384" y="246888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loan amount</a:t>
            </a:r>
            <a:pPr indent="0" marL="0">
              <a:lnSpc>
                <a:spcPct val="100000"/>
              </a:lnSpc>
              <a:buNone/>
            </a:pP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— technical review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Data, feature decisions, model selection and held-out validation — for credit and modelling reviewers.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22960" y="5394960"/>
            <a:ext cx="457200" cy="457200"/>
          </a:xfrm>
          <a:prstGeom prst="rect">
            <a:avLst/>
          </a:prstGeom>
          <a:ln w="22225">
            <a:solidFill>
              <a:srgbClr val="1B21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53766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52144" y="5449824"/>
            <a:ext cx="82296" cy="18288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216152" y="5449824"/>
            <a:ext cx="18288" cy="82296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· CREDIT &amp; MODELLING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METHODOLOGY V1 ·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Storyline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306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2148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exploration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2606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Shape, quality, distributions, what correlates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306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2880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decisions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8800" y="3657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 rate, down payment, cleaning &amp; audit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976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306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828800" y="4251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&amp; evaluation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828800" y="4709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Benchmark, parsimony, validation, governance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28800" y="5394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PLUS — OBJECTIVE &amp; APPROACH, AND APPENDIX (FULL BENCHMARK + DATA DICTIONARY)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 &amp; APPROACH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the bank's loan limit — without</a:t>
            </a:r>
            <a:endParaRPr lang="en-US" sz="2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28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 seeing it during modelling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56946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414016"/>
            <a:ext cx="532180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pPr algn="l"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 Max Loan Amount (USD) from applicant attributes, as a regression problem.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3410712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3255264"/>
            <a:ext cx="532180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target:  </a:t>
            </a:r>
            <a:pPr algn="l"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actual maximum loan is excluded from every training/selection step and used only for final evaluation.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4096512"/>
            <a:ext cx="532180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Discipline:  </a:t>
            </a:r>
            <a:pPr algn="l"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staged &amp; gated — discovery → cleaning (audited) → method selection → validation, each surfaced for decision.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5093208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4937760"/>
            <a:ext cx="532180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Reproducible:  </a:t>
            </a:r>
            <a:pPr algn="l"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numbered standalone scripts regenerate every figure and number in this deck.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858000" y="2377440"/>
            <a:ext cx="4526280" cy="3200400"/>
          </a:xfrm>
          <a:prstGeom prst="rect">
            <a:avLst/>
          </a:prstGeom>
          <a:ln w="22225">
            <a:solidFill>
              <a:srgbClr val="306C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2286000"/>
            <a:ext cx="4526280" cy="3200400"/>
          </a:xfrm>
          <a:prstGeom prst="rect">
            <a:avLst/>
          </a:prstGeom>
          <a:solidFill>
            <a:srgbClr val="E7F3FF"/>
          </a:solidFill>
          <a:ln w="22225">
            <a:solidFill>
              <a:srgbClr val="1B21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2514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1E5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LEAKAGE RULE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995160" y="2926080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B21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 rate and the target are kept out of the feature set. The model sees only what an applicant brings to the table.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1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7976" y="777240"/>
            <a:ext cx="201168" cy="20117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676656"/>
            <a:ext cx="20117" cy="201168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22860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spc="300" kern="0" dirty="0">
                <a:solidFill>
                  <a:srgbClr val="BDD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86384" y="274320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-100" kern="0" dirty="0">
                <a:solidFill>
                  <a:srgbClr val="F8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exploration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AD8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49,990 applicants — what's there, how clean, and what moves the loan.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57200" cy="457200"/>
          </a:xfrm>
          <a:prstGeom prst="rect">
            <a:avLst/>
          </a:prstGeom>
          <a:ln w="22225">
            <a:solidFill>
              <a:srgbClr val="F8FA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3309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52144" y="5404104"/>
            <a:ext cx="82296" cy="18288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Shape 8"/>
          <p:cNvSpPr/>
          <p:nvPr/>
        </p:nvSpPr>
        <p:spPr>
          <a:xfrm>
            <a:off x="1216152" y="5404104"/>
            <a:ext cx="18288" cy="82296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1" name="Text 9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DATASET &amp; QUALITY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1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to begin with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2263140" cy="27432"/>
          </a:xfrm>
          <a:prstGeom prst="rect">
            <a:avLst/>
          </a:prstGeom>
          <a:solidFill>
            <a:srgbClr val="1B2129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2304288"/>
            <a:ext cx="23545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49,990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22960" y="3035808"/>
            <a:ext cx="23545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1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APPLICANTS (ROWS)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51860" y="2194560"/>
            <a:ext cx="2263140" cy="27432"/>
          </a:xfrm>
          <a:prstGeom prst="rect">
            <a:avLst/>
          </a:prstGeom>
          <a:solidFill>
            <a:srgbClr val="1B2129"/>
          </a:solidFill>
          <a:ln/>
        </p:spPr>
      </p:sp>
      <p:sp>
        <p:nvSpPr>
          <p:cNvPr id="9" name="Text 7"/>
          <p:cNvSpPr/>
          <p:nvPr/>
        </p:nvSpPr>
        <p:spPr>
          <a:xfrm>
            <a:off x="3424428" y="2304288"/>
            <a:ext cx="23545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451860" y="3035808"/>
            <a:ext cx="23545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1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80760" y="2194560"/>
            <a:ext cx="2263140" cy="27432"/>
          </a:xfrm>
          <a:prstGeom prst="rect">
            <a:avLst/>
          </a:prstGeom>
          <a:solidFill>
            <a:srgbClr val="1B2129"/>
          </a:solidFill>
          <a:ln/>
        </p:spPr>
      </p:sp>
      <p:sp>
        <p:nvSpPr>
          <p:cNvPr id="12" name="Text 10"/>
          <p:cNvSpPr/>
          <p:nvPr/>
        </p:nvSpPr>
        <p:spPr>
          <a:xfrm>
            <a:off x="6053328" y="2304288"/>
            <a:ext cx="23545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080760" y="3035808"/>
            <a:ext cx="23545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1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NULLS / DUPLICATES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709660" y="2194560"/>
            <a:ext cx="2263140" cy="27432"/>
          </a:xfrm>
          <a:prstGeom prst="rect">
            <a:avLst/>
          </a:prstGeom>
          <a:solidFill>
            <a:srgbClr val="1B2129"/>
          </a:solidFill>
          <a:ln/>
        </p:spPr>
      </p:sp>
      <p:sp>
        <p:nvSpPr>
          <p:cNvPr id="15" name="Text 13"/>
          <p:cNvSpPr/>
          <p:nvPr/>
        </p:nvSpPr>
        <p:spPr>
          <a:xfrm>
            <a:off x="8682228" y="2304288"/>
            <a:ext cx="23545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8709660" y="3035808"/>
            <a:ext cx="23545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1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ANOMALIES FLAGGED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2960" y="375818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8" name="Text 16"/>
          <p:cNvSpPr/>
          <p:nvPr/>
        </p:nvSpPr>
        <p:spPr>
          <a:xfrm>
            <a:off x="1078992" y="3602736"/>
            <a:ext cx="1035100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Grain:  </a:t>
            </a:r>
            <a:pPr algn="l"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row per mortgage applicant; no duplicates.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22960" y="4416552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20" name="Text 18"/>
          <p:cNvSpPr/>
          <p:nvPr/>
        </p:nvSpPr>
        <p:spPr>
          <a:xfrm>
            <a:off x="1078992" y="4261104"/>
            <a:ext cx="1035100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Types:  </a:t>
            </a:r>
            <a:pPr algn="l"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numeric (income, credit score, down payment, debt, age, employment, loans repaid, rate), 5 categorical, 1 target.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22960" y="5074920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22" name="Text 20"/>
          <p:cNvSpPr/>
          <p:nvPr/>
        </p:nvSpPr>
        <p:spPr>
          <a:xfrm>
            <a:off x="1078992" y="4919472"/>
            <a:ext cx="1035100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Quality:  </a:t>
            </a:r>
            <a:pPr algn="l"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missing values; all integrity checks pass except 41 rows implying a working start age of 14–15 (off by 1–2 yrs).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22960" y="5733288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24" name="Text 22"/>
          <p:cNvSpPr/>
          <p:nvPr/>
        </p:nvSpPr>
        <p:spPr>
          <a:xfrm>
            <a:off x="1078992" y="5577840"/>
            <a:ext cx="1035100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Decision:  </a:t>
            </a:r>
            <a:pPr algn="l"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all rows; the 41 are kept and flagged in the cleaning audit, not removed.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DATA QUALITY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DISTRIBUTION &amp; DRIVERS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Right-skewed target; income &amp; credit lead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AMOUNT — DISTRIBUTION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33172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400800" y="2057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CORRELATION WITH THE TARGET</a:t>
            </a:r>
            <a:endParaRPr lang="en-US" sz="9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309360" y="2331720"/>
          <a:ext cx="50292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DISTRIBUTIONS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CATEGORICAL SIGNAL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and job look strong — but echo income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LOAN BY EDUCATION ($K)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28600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35508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LOAN BY JOB ($K)</a:t>
            </a:r>
            <a:endParaRPr lang="en-US" sz="9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217920" y="228600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822960" y="58064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66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job tiers (≈$575k / $690k / $810k) mirror income tiers exactly — a hint that these categoricals are proxies, confirmed later by feature importance.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CATEGORICALS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1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7976" y="777240"/>
            <a:ext cx="201168" cy="20117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676656"/>
            <a:ext cx="20117" cy="201168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22860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spc="300" kern="0" dirty="0">
                <a:solidFill>
                  <a:srgbClr val="BDD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86384" y="274320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-100" kern="0" dirty="0">
                <a:solidFill>
                  <a:srgbClr val="F8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decisions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AD8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goes into the model — and the evidence behind each call.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57200" cy="457200"/>
          </a:xfrm>
          <a:prstGeom prst="rect">
            <a:avLst/>
          </a:prstGeom>
          <a:ln w="22225">
            <a:solidFill>
              <a:srgbClr val="F8FA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3309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52144" y="5404104"/>
            <a:ext cx="82296" cy="18288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Shape 8"/>
          <p:cNvSpPr/>
          <p:nvPr/>
        </p:nvSpPr>
        <p:spPr>
          <a:xfrm>
            <a:off x="1216152" y="5404104"/>
            <a:ext cx="18288" cy="82296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1" name="Text 9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FEATURE DECISION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rate excluded: it's risk-based</a:t>
            </a:r>
            <a:endParaRPr lang="en-US" sz="2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26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pricing, not an applicant input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261518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459736"/>
            <a:ext cx="52303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−0.95 with credit score —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rate is essentially a deterministic function of creditworthiness.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456432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3300984"/>
            <a:ext cx="52303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from the other inputs at R² 0.91–0.94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(linear / random forest) — almost no independent information.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297680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4142232"/>
            <a:ext cx="52303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if used: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bank-set output predicting another bank output, double-counting credit score.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5138928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4983480"/>
            <a:ext cx="52303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payment, by contrast, is a genuine input —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kept (next slide).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0" y="2423160"/>
            <a:ext cx="4526280" cy="3108960"/>
          </a:xfrm>
          <a:prstGeom prst="rect">
            <a:avLst/>
          </a:prstGeom>
          <a:ln w="22225">
            <a:solidFill>
              <a:srgbClr val="306C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2331720"/>
            <a:ext cx="4526280" cy="3108960"/>
          </a:xfrm>
          <a:prstGeom prst="rect">
            <a:avLst/>
          </a:prstGeom>
          <a:solidFill>
            <a:srgbClr val="FDFEFF"/>
          </a:solidFill>
          <a:ln w="22225">
            <a:solidFill>
              <a:srgbClr val="1B21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25420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THE RATE AN INPUT OR AN OUTPUT?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967728" y="28803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306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−0.95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6995160" y="3611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with credit score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67728" y="4069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55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0.91–0.94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995160" y="4754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predictable from applicant inputs (R²)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INTEREST RATE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FEATURE DECISION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payment kept — it carries real signal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56946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414016"/>
            <a:ext cx="5230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Conceptually an input:  </a:t>
            </a:r>
            <a:pPr algn="l"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reflects household purchasing power and commitment to the purchase.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343814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3282696"/>
            <a:ext cx="5230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Empirically load-bearing:  </a:t>
            </a:r>
            <a:pPr algn="l"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dropping it raises the 4-feature model's typical error from $21,966 to $35,648.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430682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4151376"/>
            <a:ext cx="52303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0.47 with the target,  </a:t>
            </a:r>
            <a:pPr algn="l"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3rd–4th in model importance — not redundant with income or credit.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858000" y="2423160"/>
            <a:ext cx="4526280" cy="3017520"/>
          </a:xfrm>
          <a:prstGeom prst="rect">
            <a:avLst/>
          </a:prstGeom>
          <a:ln w="22225">
            <a:solidFill>
              <a:srgbClr val="306C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2331720"/>
            <a:ext cx="4526280" cy="3017520"/>
          </a:xfrm>
          <a:prstGeom prst="rect">
            <a:avLst/>
          </a:prstGeom>
          <a:solidFill>
            <a:srgbClr val="FDFEFF"/>
          </a:solidFill>
          <a:ln w="22225">
            <a:solidFill>
              <a:srgbClr val="1B21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560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TYPICAL ERROR (MAE) IMPACT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995160" y="30175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06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$21,966</a:t>
            </a:r>
            <a:pPr indent="0" marL="0">
              <a:buNone/>
            </a:pPr>
            <a:r>
              <a:rPr lang="en-US" sz="14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with down payment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995160" y="39319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66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$35,648</a:t>
            </a:r>
            <a:pPr indent="0" marL="0">
              <a:buNone/>
            </a:pPr>
            <a:r>
              <a:rPr lang="en-US" sz="14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without it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995160" y="4800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B45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+62% error if removed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DOWN PAYMENT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CLEANING &amp; AUDIT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9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removed — everything reconciled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22960" y="256946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414016"/>
            <a:ext cx="53218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 checks: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nulls, duplicates, non-positive values, credit-score range, down-payment &gt; loan, debt &gt; income, categorical whitespace — all pass.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43814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3282696"/>
            <a:ext cx="53218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anomaly: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 rows with implied working start age &lt; 16; kept and individually logged (step C9).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30682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4151376"/>
            <a:ext cx="53218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trail: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cleaning_audit.csv records every check and flagged row with a reason.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0" y="2423160"/>
            <a:ext cx="4526280" cy="2926080"/>
          </a:xfrm>
          <a:prstGeom prst="rect">
            <a:avLst/>
          </a:prstGeom>
          <a:ln w="22225">
            <a:solidFill>
              <a:srgbClr val="306C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2331720"/>
            <a:ext cx="4526280" cy="2926080"/>
          </a:xfrm>
          <a:prstGeom prst="rect">
            <a:avLst/>
          </a:prstGeom>
          <a:solidFill>
            <a:srgbClr val="E7F3FF"/>
          </a:solidFill>
          <a:ln w="22225">
            <a:solidFill>
              <a:srgbClr val="1B21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560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1E5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RECONCILIATION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995160" y="29718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49,990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raw
</a:t>
            </a:r>
            <a:pPr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49,990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kept   </a:t>
            </a:r>
            <a:pPr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 0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removed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95160" y="4754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3C85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kept + removed = raw  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CLEANING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1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7976" y="777240"/>
            <a:ext cx="201168" cy="20117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676656"/>
            <a:ext cx="20117" cy="201168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22860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spc="300" kern="0" dirty="0">
                <a:solidFill>
                  <a:srgbClr val="BDD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86384" y="274320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-100" kern="0" dirty="0">
                <a:solidFill>
                  <a:srgbClr val="F8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&amp; evaluation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AD8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model on evidence, then testing it against the held-out actual.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57200" cy="457200"/>
          </a:xfrm>
          <a:prstGeom prst="rect">
            <a:avLst/>
          </a:prstGeom>
          <a:ln w="22225">
            <a:solidFill>
              <a:srgbClr val="F8FA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3309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52144" y="5404104"/>
            <a:ext cx="82296" cy="18288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Shape 8"/>
          <p:cNvSpPr/>
          <p:nvPr/>
        </p:nvSpPr>
        <p:spPr>
          <a:xfrm>
            <a:off x="1216152" y="5404104"/>
            <a:ext cx="18288" cy="82296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1" name="Text 9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METHOD SELECTION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combinations, one protocol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9456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22960"/>
                <a:gridCol w="1005840"/>
                <a:gridCol w="1188720"/>
                <a:gridCol w="118872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6D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6D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Target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6D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R²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6D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6D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RMSE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6D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MAPE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549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HistGradientBoosting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549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raw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54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0.9894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54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$22,428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54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$31,937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54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3.74%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HistGradientBoosting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log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0.9894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$22,463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$31,915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3.70%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Random Forest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raw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0.9876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$24,312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$34,498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4.14%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Random Forest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log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0.9876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$24,427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$34,551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4.12%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Ridge (linear)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raw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0.9502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$51,858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$69,239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12.1%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Ridge (linear)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log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0.8830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$62,625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$106,103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9.97%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961120" y="2286000"/>
            <a:ext cx="2514600" cy="2834640"/>
          </a:xfrm>
          <a:prstGeom prst="rect">
            <a:avLst/>
          </a:prstGeom>
          <a:ln w="22225">
            <a:solidFill>
              <a:srgbClr val="306CB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69680" y="2194560"/>
            <a:ext cx="2514600" cy="2834640"/>
          </a:xfrm>
          <a:prstGeom prst="rect">
            <a:avLst/>
          </a:prstGeom>
          <a:solidFill>
            <a:srgbClr val="E7F3FF"/>
          </a:solidFill>
          <a:ln w="22225">
            <a:solidFill>
              <a:srgbClr val="1B212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52560" y="23957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1E5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CHOSEN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052560" y="27432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boosting, raw target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052560" y="37490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Trees beat linear by ~$30k MAE; log scale adds nothing for the winner.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5257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66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R² std ≤ 0.0004 across folds → stable, no overfitting.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BENCHMARK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PARSIMONY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features beat twelve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286000"/>
          <a:ext cx="51206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6D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Feature set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6D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R²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6D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 features (all)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0.9894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$22,428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E549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 features (primary)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E54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0.9897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E54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$21,966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features (no down pmt)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0.9768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$35,648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238658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7" name="Text 4"/>
          <p:cNvSpPr/>
          <p:nvPr/>
        </p:nvSpPr>
        <p:spPr>
          <a:xfrm>
            <a:off x="6656832" y="2231136"/>
            <a:ext cx="46817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≈ income tiers:  </a:t>
            </a:r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Doctor/Lawyer/Owner ≈$146k, Banker/SWE/Sales ≈$125k, rest ≈$105k.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0" y="325526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9" name="Text 6"/>
          <p:cNvSpPr/>
          <p:nvPr/>
        </p:nvSpPr>
        <p:spPr>
          <a:xfrm>
            <a:off x="6656832" y="3099816"/>
            <a:ext cx="46817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tracks income;  </a:t>
            </a:r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&amp; Employment are 0.97 correlated; Loans Repaid tracks credit score.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0" y="412394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1" name="Text 8"/>
          <p:cNvSpPr/>
          <p:nvPr/>
        </p:nvSpPr>
        <p:spPr>
          <a:xfrm>
            <a:off x="6656832" y="3968496"/>
            <a:ext cx="46817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8 features are downstream correlates —  </a:t>
            </a:r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permutation importance once income &amp; credit are in.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PARSIMONY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FINAL MODEL &amp; PROTOCOL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47802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322576"/>
            <a:ext cx="532180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Estimator: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HistGradientBoostingRegressor — max_iter 400, learning_rate 0.06, default depth.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319272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3163824"/>
            <a:ext cx="532180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(4):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 income, credit score, existing monthly debt, down payment (raw target).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4005072"/>
            <a:ext cx="532180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Split: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/ 20 train-test, fixed seed; 5-fold CV on train for stability.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5001768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4846320"/>
            <a:ext cx="532180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Metrics: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R², MAE, RMSE, MAPE on the held-out 20% — all in native USD.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0" y="2377440"/>
            <a:ext cx="4526280" cy="3017520"/>
          </a:xfrm>
          <a:prstGeom prst="rect">
            <a:avLst/>
          </a:prstGeom>
          <a:ln w="22225">
            <a:solidFill>
              <a:srgbClr val="306C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2286000"/>
            <a:ext cx="4526280" cy="3017520"/>
          </a:xfrm>
          <a:prstGeom prst="rect">
            <a:avLst/>
          </a:prstGeom>
          <a:solidFill>
            <a:srgbClr val="FDFEFF"/>
          </a:solidFill>
          <a:ln w="22225">
            <a:solidFill>
              <a:srgbClr val="1B21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2514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95160" y="302666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7" name="Text 15"/>
          <p:cNvSpPr/>
          <p:nvPr/>
        </p:nvSpPr>
        <p:spPr>
          <a:xfrm>
            <a:off x="7251192" y="2871216"/>
            <a:ext cx="38587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model_final.joblib 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the fitted 4-feature pipeline.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95160" y="371246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9" name="Text 17"/>
          <p:cNvSpPr/>
          <p:nvPr/>
        </p:nvSpPr>
        <p:spPr>
          <a:xfrm>
            <a:off x="7251192" y="3557016"/>
            <a:ext cx="38587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model_full.joblib 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12-feature model, kept for the record.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95160" y="439826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21" name="Text 19"/>
          <p:cNvSpPr/>
          <p:nvPr/>
        </p:nvSpPr>
        <p:spPr>
          <a:xfrm>
            <a:off x="7251192" y="4242816"/>
            <a:ext cx="38587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evaluation_metrics.json  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predictions_test.csv.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SPECIFICATION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VALIDATION VS HELD-OUT ACTUAL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reproduces real decisions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2263140" cy="27432"/>
          </a:xfrm>
          <a:prstGeom prst="rect">
            <a:avLst/>
          </a:prstGeom>
          <a:solidFill>
            <a:srgbClr val="1B2129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2258568"/>
            <a:ext cx="23545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0.990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22960" y="2990088"/>
            <a:ext cx="23545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1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51860" y="2148840"/>
            <a:ext cx="2263140" cy="27432"/>
          </a:xfrm>
          <a:prstGeom prst="rect">
            <a:avLst/>
          </a:prstGeom>
          <a:solidFill>
            <a:srgbClr val="1B2129"/>
          </a:solidFill>
          <a:ln/>
        </p:spPr>
      </p:sp>
      <p:sp>
        <p:nvSpPr>
          <p:cNvPr id="9" name="Text 7"/>
          <p:cNvSpPr/>
          <p:nvPr/>
        </p:nvSpPr>
        <p:spPr>
          <a:xfrm>
            <a:off x="3424428" y="2258568"/>
            <a:ext cx="23545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$21,966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451860" y="2990088"/>
            <a:ext cx="23545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1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80760" y="2148840"/>
            <a:ext cx="2263140" cy="27432"/>
          </a:xfrm>
          <a:prstGeom prst="rect">
            <a:avLst/>
          </a:prstGeom>
          <a:solidFill>
            <a:srgbClr val="1B2129"/>
          </a:solidFill>
          <a:ln/>
        </p:spPr>
      </p:sp>
      <p:sp>
        <p:nvSpPr>
          <p:cNvPr id="12" name="Text 10"/>
          <p:cNvSpPr/>
          <p:nvPr/>
        </p:nvSpPr>
        <p:spPr>
          <a:xfrm>
            <a:off x="6053328" y="2258568"/>
            <a:ext cx="23545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3.65%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080760" y="2990088"/>
            <a:ext cx="23545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1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709660" y="2148840"/>
            <a:ext cx="2263140" cy="27432"/>
          </a:xfrm>
          <a:prstGeom prst="rect">
            <a:avLst/>
          </a:prstGeom>
          <a:solidFill>
            <a:srgbClr val="1B2129"/>
          </a:solidFill>
          <a:ln/>
        </p:spPr>
      </p:sp>
      <p:sp>
        <p:nvSpPr>
          <p:cNvPr id="15" name="Text 13"/>
          <p:cNvSpPr/>
          <p:nvPr/>
        </p:nvSpPr>
        <p:spPr>
          <a:xfrm>
            <a:off x="8682228" y="2258568"/>
            <a:ext cx="23545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spc="-5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94.9%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8709660" y="2990088"/>
            <a:ext cx="23545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1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WITHIN ±10%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834640" y="3611880"/>
            <a:ext cx="6675120" cy="2697480"/>
          </a:xfrm>
          <a:prstGeom prst="rect">
            <a:avLst/>
          </a:prstGeom>
          <a:ln w="22225">
            <a:solidFill>
              <a:srgbClr val="306C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3520440"/>
            <a:ext cx="6675120" cy="2697480"/>
          </a:xfrm>
          <a:prstGeom prst="rect">
            <a:avLst/>
          </a:prstGeom>
          <a:solidFill>
            <a:srgbClr val="FDFEFF"/>
          </a:solidFill>
          <a:ln w="22225">
            <a:solidFill>
              <a:srgbClr val="1B21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367588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 VS ACTUAL — 9,998 HELD-OUT APPLICANTS</a:t>
            </a:r>
            <a:endParaRPr lang="en-US" sz="950" dirty="0"/>
          </a:p>
        </p:txBody>
      </p:sp>
      <p:pic>
        <p:nvPicPr>
          <p:cNvPr id="20" name="Image 0" descr="charts/img_scat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71800" y="3931920"/>
            <a:ext cx="6217920" cy="21945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VALIDATION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ERROR STRUCTURE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Unbiased, and accurate across loan sizes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RESIDUALS (ACTUAL − PREDICTED), $K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33172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400800" y="2057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MAPE BY LOAN-SIZE BAND</a:t>
            </a:r>
            <a:endParaRPr lang="en-US" sz="9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309360" y="233172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822960" y="58064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Residuals center on zero (no systematic over/under-lending). Absolute error grows with loan size but percentage error shrinks — most accurate on the largest loans.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ERROR STRUCTURE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FEATURE IMPORTANCE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Permutation importance confirms the four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194560"/>
          <a:ext cx="56692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760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3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IN TEST R² WHEN THE FEATURE IS SHUFFLED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583680" y="238658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8" name="Text 5"/>
          <p:cNvSpPr/>
          <p:nvPr/>
        </p:nvSpPr>
        <p:spPr>
          <a:xfrm>
            <a:off x="6839712" y="2231136"/>
            <a:ext cx="45902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dominates  </a:t>
            </a:r>
            <a:pPr algn="l"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(1.44), then credit score (0.65).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583680" y="320954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Text 7"/>
          <p:cNvSpPr/>
          <p:nvPr/>
        </p:nvSpPr>
        <p:spPr>
          <a:xfrm>
            <a:off x="6839712" y="3054096"/>
            <a:ext cx="45902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debt (0.34)  </a:t>
            </a:r>
            <a:pPr algn="l"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 genuine third factor — capacity to repay.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0" y="403250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2" name="Text 9"/>
          <p:cNvSpPr/>
          <p:nvPr/>
        </p:nvSpPr>
        <p:spPr>
          <a:xfrm>
            <a:off x="6839712" y="3877056"/>
            <a:ext cx="45902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payment (0.03)  </a:t>
            </a:r>
            <a:pPr algn="l"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but load-bearing.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583680" y="485546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4" name="Text 11"/>
          <p:cNvSpPr/>
          <p:nvPr/>
        </p:nvSpPr>
        <p:spPr>
          <a:xfrm>
            <a:off x="6839712" y="4700016"/>
            <a:ext cx="45902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other features ≈ 0 —  </a:t>
            </a:r>
            <a:pPr algn="l"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directly, not assumed.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IMPORTANCE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GOVERNANCE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Fair-lending posture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47802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322576"/>
            <a:ext cx="102595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protected attributes:  </a:t>
            </a:r>
            <a:pPr algn="l"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primary model uses no gender, marital status or age — supporting ECOA / fair-lending defensibility.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3319272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3163824"/>
            <a:ext cx="102595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obvious proxies:  </a:t>
            </a:r>
            <a:pPr algn="l"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and education (income proxies) were dropped; inputs are all direct financial measures.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4005072"/>
            <a:ext cx="102595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Explainable:  </a:t>
            </a:r>
            <a:pPr algn="l"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inputs with monotonic, intuitive effects — straightforward to document for model risk and audit.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5001768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4846320"/>
            <a:ext cx="102595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Monitor:  </a:t>
            </a:r>
            <a:pPr algn="l"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input drift and disparate-impact metrics once live on real decisions.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GOVERNANCE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LIMITATIONS &amp; ASSUMPTIONS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9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keep in mind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22960" y="247802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322576"/>
            <a:ext cx="102595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Synthetic-style data: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 are cleaner and more deterministic than a real lending book — expect lower R² on production data.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319272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3163824"/>
            <a:ext cx="102595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Counter-intuitive debt sign: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debt correlates positively with the limit here (likely an artifact); revisit on real data.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4005072"/>
            <a:ext cx="102595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Mimics existing decisions: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learns the bank's historical limit policy — it does not judge whether that policy is optimal or fair.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5001768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4846320"/>
            <a:ext cx="102595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macro / collateral context: 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value, LTV, rates environment and affordability stress are out of scope here.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LIMITATIONS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REPRODUCIBILITY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 per stage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6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1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scripts/01_clean_data.py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0" y="228600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+ audit → data/mortgage_clean.csv, metrics/cleaning_audit.csv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9443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6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9443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1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scripts/02_model_benchmark.py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0" y="2944368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model × scale combos → metrics/model_benchmark.csv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360273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6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360273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1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scripts/03_train_evaluate.py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0" y="3602736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 both models, validate → metrics + artifacts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426110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6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42611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1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scripts/04_build_presentations.js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0" y="4261104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PPTX decks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960" y="49194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6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9194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1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scripts/05_build_html_decks.py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0" y="4919472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E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HTML twins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66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figure in this deck traces back to the raw CSV through these scripts.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REPRODUCIBILITY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1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7976" y="777240"/>
            <a:ext cx="201168" cy="20117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676656"/>
            <a:ext cx="20117" cy="201168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BDD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86384" y="219456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spc="-50" kern="0" dirty="0">
                <a:solidFill>
                  <a:srgbClr val="F8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compact, leakage-free model that reproduces the bank's loan limits to </a:t>
            </a:r>
            <a:pPr indent="0" marL="0">
              <a:lnSpc>
                <a:spcPct val="105000"/>
              </a:lnSpc>
              <a:buNone/>
            </a:pPr>
            <a:r>
              <a:rPr lang="en-US" sz="4000" b="1" spc="-50" kern="0" dirty="0">
                <a:solidFill>
                  <a:srgbClr val="BDDB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~3.6% error</a:t>
            </a:r>
            <a:pPr indent="0" marL="0">
              <a:lnSpc>
                <a:spcPct val="105000"/>
              </a:lnSpc>
              <a:buNone/>
            </a:pPr>
            <a:r>
              <a:rPr lang="en-US" sz="4000" b="1" spc="-50" kern="0" dirty="0">
                <a:solidFill>
                  <a:srgbClr val="F8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using just four financial inputs.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22960" y="476402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4608576"/>
            <a:ext cx="101681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F8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 </a:t>
            </a:r>
            <a:pPr algn="l"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AD8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shadow-mode pilot, review band at ±10%, retrain on a real decision book.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5404104"/>
            <a:ext cx="146304" cy="23774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5248656"/>
            <a:ext cx="101681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F8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Then:  </a:t>
            </a:r>
            <a:pPr algn="l"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AD8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collateral / LTV context and affordability stress for production underwriting.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"/>
            <a:ext cx="201168" cy="25603"/>
          </a:xfrm>
          <a:prstGeom prst="rect">
            <a:avLst/>
          </a:prstGeom>
          <a:solidFill>
            <a:srgbClr val="306CB8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240" kern="0" dirty="0">
                <a:solidFill>
                  <a:srgbClr val="666D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841248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spc="-40" kern="0" dirty="0">
                <a:solidFill>
                  <a:srgbClr val="1B2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dictionary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94560"/>
          <a:ext cx="1051560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914400"/>
                <a:gridCol w="62179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66D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Field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66D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66D7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Role in the model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Annual Income (USD)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Applicant income — top driver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Credit Score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300–850; second driver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Existing Monthly Debt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Current monthly obligations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Down Payment (USD)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Cash toward purchase — kept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Interest Rate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Risk-based price — EXCLUDED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 / Employment Years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Correlated; not used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Loans Repaid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Tracks credit score; not used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Gender / Married / Area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 signal; not used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Education / Job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Income proxies; not used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Max Loan Amount (USD)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444D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TARGET — held out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LOAN MODEL · METHODOLOGY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965192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180" kern="0" dirty="0">
                <a:solidFill>
                  <a:srgbClr val="939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· DATA DICTIONARY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2026-07-01T14:40:49Z</dcterms:created>
  <dcterms:modified xsi:type="dcterms:W3CDTF">2026-07-01T14:40:49Z</dcterms:modified>
</cp:coreProperties>
</file>