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</c:v>
                </c:pt>
              </c:strCache>
            </c:strRef>
          </c:tx>
          <c:spPr>
            <a:solidFill>
              <a:srgbClr val="306CB8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3E444D"/>
                    </a:solidFill>
                    <a:latin typeface="Courier New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306CB8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306CB8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455E73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455E73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Annual income</c:v>
                  </c:pt>
                  <c:pt idx="1">
                    <c:v>Credit score</c:v>
                  </c:pt>
                  <c:pt idx="2">
                    <c:v>Existing monthly debt</c:v>
                  </c:pt>
                  <c:pt idx="3">
                    <c:v>Down payment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1.44</c:v>
                </c:pt>
                <c:pt idx="1">
                  <c:v>0.65</c:v>
                </c:pt>
                <c:pt idx="2">
                  <c:v>0.34</c:v>
                </c:pt>
                <c:pt idx="3">
                  <c:v>0.03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000" u="none">
                  <a:solidFill>
                    <a:srgbClr val="3E444D"/>
                  </a:solidFill>
                  <a:latin typeface="Courier New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3E444D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1"/>
        <c:axPos val="b"/>
        <c:majorGridlines>
          <c:spPr>
            <a:ln w="6350" cap="flat">
              <a:solidFill>
                <a:srgbClr val="D8DBD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66D7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</c:v>
                </c:pt>
              </c:strCache>
            </c:strRef>
          </c:tx>
          <c:spPr>
            <a:solidFill>
              <a:srgbClr val="306CB8"/>
            </a:solidFill>
            <a:effectLst/>
          </c:spPr>
          <c:invertIfNegative val="0"/>
          <c:dLbls>
            <c:numFmt formatCode="&quot;$&quot;0.0&quot;k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3E444D"/>
                    </a:solidFill>
                    <a:latin typeface="Courier New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306CB8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455E73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9399A0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Gradient
boosting</c:v>
                  </c:pt>
                  <c:pt idx="1">
                    <c:v>Random
forest</c:v>
                  </c:pt>
                  <c:pt idx="2">
                    <c:v>Linear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22.4</c:v>
                </c:pt>
                <c:pt idx="1">
                  <c:v>24.3</c:v>
                </c:pt>
                <c:pt idx="2">
                  <c:v>51.9</c:v>
                </c:pt>
              </c:numCache>
            </c:numRef>
          </c:val>
        </c:ser>
        <c:dLbls>
          <c:numFmt formatCode="&quot;$&quot;0.0&quot;k&quot;" sourceLinked="0"/>
          <c:txPr>
            <a:bodyPr/>
            <a:lstStyle/>
            <a:p>
              <a:pPr>
                <a:defRPr b="0" i="0" strike="noStrike" sz="1000" u="none">
                  <a:solidFill>
                    <a:srgbClr val="3E444D"/>
                  </a:solidFill>
                  <a:latin typeface="Courier New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3E444D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1"/>
        <c:axPos val="l"/>
        <c:majorGridlines>
          <c:spPr>
            <a:ln w="6350" cap="flat">
              <a:solidFill>
                <a:srgbClr val="D8DBD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66D7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8096" y="777240"/>
            <a:ext cx="201168" cy="20117"/>
          </a:xfrm>
          <a:prstGeom prst="rect">
            <a:avLst/>
          </a:prstGeom>
          <a:solidFill>
            <a:srgbClr val="306CB8"/>
          </a:solidFill>
          <a:ln/>
        </p:spPr>
      </p:sp>
      <p:sp>
        <p:nvSpPr>
          <p:cNvPr id="3" name="Shape 1"/>
          <p:cNvSpPr/>
          <p:nvPr/>
        </p:nvSpPr>
        <p:spPr>
          <a:xfrm>
            <a:off x="868680" y="676656"/>
            <a:ext cx="20117" cy="201168"/>
          </a:xfrm>
          <a:prstGeom prst="rect">
            <a:avLst/>
          </a:prstGeom>
          <a:solidFill>
            <a:srgbClr val="306CB8"/>
          </a:solidFill>
          <a:ln/>
        </p:spPr>
      </p:sp>
      <p:sp>
        <p:nvSpPr>
          <p:cNvPr id="4" name="Shape 2"/>
          <p:cNvSpPr/>
          <p:nvPr/>
        </p:nvSpPr>
        <p:spPr>
          <a:xfrm>
            <a:off x="11237976" y="6080760"/>
            <a:ext cx="201168" cy="20117"/>
          </a:xfrm>
          <a:prstGeom prst="rect">
            <a:avLst/>
          </a:prstGeom>
          <a:solidFill>
            <a:srgbClr val="306CB8"/>
          </a:solidFill>
          <a:ln/>
        </p:spPr>
      </p:sp>
      <p:sp>
        <p:nvSpPr>
          <p:cNvPr id="5" name="Shape 3"/>
          <p:cNvSpPr/>
          <p:nvPr/>
        </p:nvSpPr>
        <p:spPr>
          <a:xfrm>
            <a:off x="11338560" y="5980176"/>
            <a:ext cx="20117" cy="201168"/>
          </a:xfrm>
          <a:prstGeom prst="rect">
            <a:avLst/>
          </a:prstGeom>
          <a:solidFill>
            <a:srgbClr val="306CB8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2226564"/>
            <a:ext cx="201168" cy="25603"/>
          </a:xfrm>
          <a:prstGeom prst="rect">
            <a:avLst/>
          </a:prstGeom>
          <a:solidFill>
            <a:srgbClr val="306CB8"/>
          </a:solidFill>
          <a:ln/>
        </p:spPr>
      </p:sp>
      <p:sp>
        <p:nvSpPr>
          <p:cNvPr id="7" name="Text 5"/>
          <p:cNvSpPr/>
          <p:nvPr/>
        </p:nvSpPr>
        <p:spPr>
          <a:xfrm>
            <a:off x="1115568" y="2103120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spc="240" kern="0" dirty="0">
                <a:solidFill>
                  <a:srgbClr val="666D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MORTGAGE CREDIT · MODEL SUMMARY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786384" y="2468880"/>
            <a:ext cx="105156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5400" b="1" spc="-50" kern="0" dirty="0">
                <a:solidFill>
                  <a:srgbClr val="1B21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Maximum loan amount</a:t>
            </a:r>
            <a:pPr indent="0" marL="0">
              <a:lnSpc>
                <a:spcPct val="100000"/>
              </a:lnSpc>
              <a:buNone/>
            </a:pPr>
            <a:endParaRPr lang="en-US" sz="5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5400" b="1" spc="-50" kern="0" dirty="0">
                <a:solidFill>
                  <a:srgbClr val="1B21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model.</a:t>
            </a:r>
            <a:endParaRPr lang="en-US" sz="5400" dirty="0"/>
          </a:p>
        </p:txBody>
      </p:sp>
      <p:sp>
        <p:nvSpPr>
          <p:cNvPr id="9" name="Text 7"/>
          <p:cNvSpPr/>
          <p:nvPr/>
        </p:nvSpPr>
        <p:spPr>
          <a:xfrm>
            <a:off x="822960" y="4160520"/>
            <a:ext cx="7680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900" dirty="0">
                <a:solidFill>
                  <a:srgbClr val="3E44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Predicting the bank's responsible lending limit from applicant data — validated against the actual decisions it has held out.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822960" y="5394960"/>
            <a:ext cx="457200" cy="457200"/>
          </a:xfrm>
          <a:prstGeom prst="rect">
            <a:avLst/>
          </a:prstGeom>
          <a:ln w="22225">
            <a:solidFill>
              <a:srgbClr val="1B212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5376672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1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ÁS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152144" y="5449824"/>
            <a:ext cx="82296" cy="18288"/>
          </a:xfrm>
          <a:prstGeom prst="rect">
            <a:avLst/>
          </a:prstGeom>
          <a:solidFill>
            <a:srgbClr val="306CB8"/>
          </a:solidFill>
          <a:ln/>
        </p:spPr>
      </p:sp>
      <p:sp>
        <p:nvSpPr>
          <p:cNvPr id="13" name="Shape 11"/>
          <p:cNvSpPr/>
          <p:nvPr/>
        </p:nvSpPr>
        <p:spPr>
          <a:xfrm>
            <a:off x="1216152" y="5449824"/>
            <a:ext cx="18288" cy="82296"/>
          </a:xfrm>
          <a:prstGeom prst="rect">
            <a:avLst/>
          </a:prstGeom>
          <a:solidFill>
            <a:srgbClr val="306CB8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6437376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spc="180" kern="0" dirty="0">
                <a:solidFill>
                  <a:srgbClr val="9399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EXECUTIVE BRIEFING · 2026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965192" y="6437376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spc="180" kern="0" dirty="0">
                <a:solidFill>
                  <a:srgbClr val="9399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CONFIDENTIAL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534924"/>
            <a:ext cx="201168" cy="25603"/>
          </a:xfrm>
          <a:prstGeom prst="rect">
            <a:avLst/>
          </a:prstGeom>
          <a:solidFill>
            <a:srgbClr val="306CB8"/>
          </a:solidFill>
          <a:ln/>
        </p:spPr>
      </p:sp>
      <p:sp>
        <p:nvSpPr>
          <p:cNvPr id="3" name="Text 1"/>
          <p:cNvSpPr/>
          <p:nvPr/>
        </p:nvSpPr>
        <p:spPr>
          <a:xfrm>
            <a:off x="1115568" y="411480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spc="240" kern="0" dirty="0">
                <a:solidFill>
                  <a:srgbClr val="666D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CONTENTS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786384" y="841248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spc="-50" kern="0" dirty="0">
                <a:solidFill>
                  <a:srgbClr val="1B21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What's in this deck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822960" y="1965960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306C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691640" y="1929384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1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summary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691640" y="2258568"/>
            <a:ext cx="6949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66D7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ask, the answer, the headline result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822960" y="2679192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306C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691640" y="2642616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1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we trust the model?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691640" y="2971800"/>
            <a:ext cx="6949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66D7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Accuracy against the held-out actual decisions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822960" y="3392424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306C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691640" y="3355848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1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drives the loan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691640" y="3685032"/>
            <a:ext cx="6949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66D7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four factors that set the limit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822960" y="4105656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306C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691640" y="4069080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1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 &amp; next steps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691640" y="4398264"/>
            <a:ext cx="6949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66D7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to put it to work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8732520" y="19659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666D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APPENDIX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732520" y="237744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55E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189720" y="237744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3E44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interest rate was excluded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8732520" y="3090672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55E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9189720" y="3090672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3E44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factors &amp; fair lending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8732520" y="3803904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55E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189720" y="3803904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3E44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&amp; method background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822960" y="6437376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spc="180" kern="0" dirty="0">
                <a:solidFill>
                  <a:srgbClr val="9399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MAXIMUM LOAN AMOUNT MODEL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965192" y="6437376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spc="180" kern="0" dirty="0">
                <a:solidFill>
                  <a:srgbClr val="9399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CONTENTS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534924"/>
            <a:ext cx="201168" cy="25603"/>
          </a:xfrm>
          <a:prstGeom prst="rect">
            <a:avLst/>
          </a:prstGeom>
          <a:solidFill>
            <a:srgbClr val="306CB8"/>
          </a:solidFill>
          <a:ln/>
        </p:spPr>
      </p:sp>
      <p:sp>
        <p:nvSpPr>
          <p:cNvPr id="3" name="Text 1"/>
          <p:cNvSpPr/>
          <p:nvPr/>
        </p:nvSpPr>
        <p:spPr>
          <a:xfrm>
            <a:off x="1115568" y="411480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spc="240" kern="0" dirty="0">
                <a:solidFill>
                  <a:srgbClr val="666D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— EXECUTIVE SUMMARY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786384" y="841248"/>
            <a:ext cx="10607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100" b="1" spc="-50" kern="0" dirty="0">
                <a:solidFill>
                  <a:srgbClr val="1B21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model that reproduces lending</a:t>
            </a:r>
            <a:endParaRPr lang="en-US" sz="31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3100" b="1" spc="-50" kern="0" dirty="0">
                <a:solidFill>
                  <a:srgbClr val="1B21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decisions to within ~4%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822960" y="2286000"/>
            <a:ext cx="3246120" cy="27432"/>
          </a:xfrm>
          <a:prstGeom prst="rect">
            <a:avLst/>
          </a:prstGeom>
          <a:solidFill>
            <a:srgbClr val="1B2129"/>
          </a:solidFill>
          <a:ln/>
        </p:spPr>
      </p:sp>
      <p:sp>
        <p:nvSpPr>
          <p:cNvPr id="6" name="Text 4"/>
          <p:cNvSpPr/>
          <p:nvPr/>
        </p:nvSpPr>
        <p:spPr>
          <a:xfrm>
            <a:off x="795528" y="2395728"/>
            <a:ext cx="3291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spc="-50" kern="0" dirty="0">
                <a:solidFill>
                  <a:srgbClr val="1B21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0.990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822960" y="320040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spc="140" kern="0" dirty="0">
                <a:solidFill>
                  <a:srgbClr val="666D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VARIANCE EXPLAINED (R²)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434840" y="2286000"/>
            <a:ext cx="3246120" cy="27432"/>
          </a:xfrm>
          <a:prstGeom prst="rect">
            <a:avLst/>
          </a:prstGeom>
          <a:solidFill>
            <a:srgbClr val="1B2129"/>
          </a:solidFill>
          <a:ln/>
        </p:spPr>
      </p:sp>
      <p:sp>
        <p:nvSpPr>
          <p:cNvPr id="9" name="Text 7"/>
          <p:cNvSpPr/>
          <p:nvPr/>
        </p:nvSpPr>
        <p:spPr>
          <a:xfrm>
            <a:off x="4407408" y="2395728"/>
            <a:ext cx="3291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spc="-50" kern="0" dirty="0">
                <a:solidFill>
                  <a:srgbClr val="1B21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±$22.0k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4434840" y="320040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spc="140" kern="0" dirty="0">
                <a:solidFill>
                  <a:srgbClr val="666D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TYPICAL ERROR (MAE)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46120" cy="27432"/>
          </a:xfrm>
          <a:prstGeom prst="rect">
            <a:avLst/>
          </a:prstGeom>
          <a:solidFill>
            <a:srgbClr val="1B2129"/>
          </a:solidFill>
          <a:ln/>
        </p:spPr>
      </p:sp>
      <p:sp>
        <p:nvSpPr>
          <p:cNvPr id="12" name="Text 10"/>
          <p:cNvSpPr/>
          <p:nvPr/>
        </p:nvSpPr>
        <p:spPr>
          <a:xfrm>
            <a:off x="8019288" y="2395728"/>
            <a:ext cx="3291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spc="-50" kern="0" dirty="0">
                <a:solidFill>
                  <a:srgbClr val="1B21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94.9%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8046720" y="320040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spc="140" kern="0" dirty="0">
                <a:solidFill>
                  <a:srgbClr val="666D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WITHIN ±10% OF ACTUAL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22960" y="3941064"/>
            <a:ext cx="146304" cy="23774"/>
          </a:xfrm>
          <a:prstGeom prst="rect">
            <a:avLst/>
          </a:prstGeom>
          <a:solidFill>
            <a:srgbClr val="306CB8"/>
          </a:solidFill>
          <a:ln/>
        </p:spPr>
      </p:sp>
      <p:sp>
        <p:nvSpPr>
          <p:cNvPr id="15" name="Text 13"/>
          <p:cNvSpPr/>
          <p:nvPr/>
        </p:nvSpPr>
        <p:spPr>
          <a:xfrm>
            <a:off x="1078992" y="3785616"/>
            <a:ext cx="10351008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600" b="1" dirty="0">
                <a:solidFill>
                  <a:srgbClr val="1B21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ask:  </a:t>
            </a:r>
            <a:pPr algn="l" indent="0" marL="0">
              <a:lnSpc>
                <a:spcPct val="106000"/>
              </a:lnSpc>
              <a:buNone/>
            </a:pPr>
            <a:r>
              <a:rPr lang="en-US" sz="1600" dirty="0">
                <a:solidFill>
                  <a:srgbClr val="3E44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estimate the maximum loan the bank should responsibly offer each applicant, from their financial profile alone.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822960" y="4690872"/>
            <a:ext cx="146304" cy="23774"/>
          </a:xfrm>
          <a:prstGeom prst="rect">
            <a:avLst/>
          </a:prstGeom>
          <a:solidFill>
            <a:srgbClr val="306CB8"/>
          </a:solidFill>
          <a:ln/>
        </p:spPr>
      </p:sp>
      <p:sp>
        <p:nvSpPr>
          <p:cNvPr id="17" name="Text 15"/>
          <p:cNvSpPr/>
          <p:nvPr/>
        </p:nvSpPr>
        <p:spPr>
          <a:xfrm>
            <a:off x="1078992" y="4535424"/>
            <a:ext cx="10351008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600" b="1" dirty="0">
                <a:solidFill>
                  <a:srgbClr val="1B21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answer:  </a:t>
            </a:r>
            <a:pPr algn="l" indent="0" marL="0">
              <a:lnSpc>
                <a:spcPct val="106000"/>
              </a:lnSpc>
              <a:buNone/>
            </a:pPr>
            <a:r>
              <a:rPr lang="en-US" sz="1600" dirty="0">
                <a:solidFill>
                  <a:srgbClr val="3E44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gradient-boosting model predicts that limit with high accuracy — and we validated it against the real decisions, which were never shown to the model.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822960" y="5440680"/>
            <a:ext cx="146304" cy="23774"/>
          </a:xfrm>
          <a:prstGeom prst="rect">
            <a:avLst/>
          </a:prstGeom>
          <a:solidFill>
            <a:srgbClr val="306CB8"/>
          </a:solidFill>
          <a:ln/>
        </p:spPr>
      </p:sp>
      <p:sp>
        <p:nvSpPr>
          <p:cNvPr id="19" name="Text 17"/>
          <p:cNvSpPr/>
          <p:nvPr/>
        </p:nvSpPr>
        <p:spPr>
          <a:xfrm>
            <a:off x="1078992" y="5285232"/>
            <a:ext cx="10351008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600" b="1" dirty="0">
                <a:solidFill>
                  <a:srgbClr val="1B21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matters:  </a:t>
            </a:r>
            <a:pPr algn="l" indent="0" marL="0">
              <a:lnSpc>
                <a:spcPct val="106000"/>
              </a:lnSpc>
              <a:buNone/>
            </a:pPr>
            <a:r>
              <a:rPr lang="en-US" sz="1600" dirty="0">
                <a:solidFill>
                  <a:srgbClr val="3E44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consistent, explainable loan sizing — a fast first-pass limit for ~95% of applicants, with the rare large miss easy to flag for review.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22960" y="6437376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spc="180" kern="0" dirty="0">
                <a:solidFill>
                  <a:srgbClr val="9399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MAXIMUM LOAN AMOUNT MODEL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965192" y="6437376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spc="180" kern="0" dirty="0">
                <a:solidFill>
                  <a:srgbClr val="9399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· EXECUTIVE SUMMARY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534924"/>
            <a:ext cx="201168" cy="25603"/>
          </a:xfrm>
          <a:prstGeom prst="rect">
            <a:avLst/>
          </a:prstGeom>
          <a:solidFill>
            <a:srgbClr val="306CB8"/>
          </a:solidFill>
          <a:ln/>
        </p:spPr>
      </p:sp>
      <p:sp>
        <p:nvSpPr>
          <p:cNvPr id="3" name="Text 1"/>
          <p:cNvSpPr/>
          <p:nvPr/>
        </p:nvSpPr>
        <p:spPr>
          <a:xfrm>
            <a:off x="1115568" y="411480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spc="240" kern="0" dirty="0">
                <a:solidFill>
                  <a:srgbClr val="666D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— CAN WE TRUST THE MODEL?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786384" y="841248"/>
            <a:ext cx="5669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2700" b="1" spc="-40" kern="0" dirty="0">
                <a:solidFill>
                  <a:srgbClr val="1B21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Predictions land on the bank's</a:t>
            </a:r>
            <a:endParaRPr lang="en-US" sz="27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2700" b="1" spc="-40" kern="0" dirty="0">
                <a:solidFill>
                  <a:srgbClr val="1B21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actual decisions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822960" y="2569464"/>
            <a:ext cx="146304" cy="23774"/>
          </a:xfrm>
          <a:prstGeom prst="rect">
            <a:avLst/>
          </a:prstGeom>
          <a:solidFill>
            <a:srgbClr val="306CB8"/>
          </a:solidFill>
          <a:ln/>
        </p:spPr>
      </p:sp>
      <p:sp>
        <p:nvSpPr>
          <p:cNvPr id="6" name="Text 4"/>
          <p:cNvSpPr/>
          <p:nvPr/>
        </p:nvSpPr>
        <p:spPr>
          <a:xfrm>
            <a:off x="1078992" y="2414016"/>
            <a:ext cx="495604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500" b="1" dirty="0">
                <a:solidFill>
                  <a:srgbClr val="1B21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Tested honestly.  </a:t>
            </a:r>
            <a:pPr algn="l" indent="0" marL="0">
              <a:lnSpc>
                <a:spcPct val="106000"/>
              </a:lnSpc>
              <a:buNone/>
            </a:pPr>
            <a:r>
              <a:rPr lang="en-US" sz="1500" dirty="0">
                <a:solidFill>
                  <a:srgbClr val="3E44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Measured on 9,998 applicants the model never saw in training.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22960" y="3392424"/>
            <a:ext cx="146304" cy="23774"/>
          </a:xfrm>
          <a:prstGeom prst="rect">
            <a:avLst/>
          </a:prstGeom>
          <a:solidFill>
            <a:srgbClr val="306CB8"/>
          </a:solidFill>
          <a:ln/>
        </p:spPr>
      </p:sp>
      <p:sp>
        <p:nvSpPr>
          <p:cNvPr id="8" name="Text 6"/>
          <p:cNvSpPr/>
          <p:nvPr/>
        </p:nvSpPr>
        <p:spPr>
          <a:xfrm>
            <a:off x="1078992" y="3236976"/>
            <a:ext cx="495604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500" b="1" dirty="0">
                <a:solidFill>
                  <a:srgbClr val="1B21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the line.  </a:t>
            </a:r>
            <a:pPr algn="l" indent="0" marL="0">
              <a:lnSpc>
                <a:spcPct val="106000"/>
              </a:lnSpc>
              <a:buNone/>
            </a:pPr>
            <a:r>
              <a:rPr lang="en-US" sz="1500" dirty="0">
                <a:solidFill>
                  <a:srgbClr val="3E44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Each point is one applicant; the closer to the dashed line, the closer the prediction to the real limit.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22960" y="4215384"/>
            <a:ext cx="146304" cy="23774"/>
          </a:xfrm>
          <a:prstGeom prst="rect">
            <a:avLst/>
          </a:prstGeom>
          <a:solidFill>
            <a:srgbClr val="306CB8"/>
          </a:solidFill>
          <a:ln/>
        </p:spPr>
      </p:sp>
      <p:sp>
        <p:nvSpPr>
          <p:cNvPr id="10" name="Text 8"/>
          <p:cNvSpPr/>
          <p:nvPr/>
        </p:nvSpPr>
        <p:spPr>
          <a:xfrm>
            <a:off x="1078992" y="4059936"/>
            <a:ext cx="495604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500" b="1" dirty="0">
                <a:solidFill>
                  <a:srgbClr val="1B21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size blind spot.  </a:t>
            </a:r>
            <a:pPr algn="l" indent="0" marL="0">
              <a:lnSpc>
                <a:spcPct val="106000"/>
              </a:lnSpc>
              <a:buNone/>
            </a:pPr>
            <a:r>
              <a:rPr lang="en-US" sz="1500" dirty="0">
                <a:solidFill>
                  <a:srgbClr val="3E44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Accuracy holds from the smallest to the largest loans.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492240" y="2148840"/>
            <a:ext cx="4892040" cy="3840480"/>
          </a:xfrm>
          <a:prstGeom prst="rect">
            <a:avLst/>
          </a:prstGeom>
          <a:ln w="22225">
            <a:solidFill>
              <a:srgbClr val="306CB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00800" y="2057400"/>
            <a:ext cx="4892040" cy="3840480"/>
          </a:xfrm>
          <a:prstGeom prst="rect">
            <a:avLst/>
          </a:prstGeom>
          <a:solidFill>
            <a:srgbClr val="FDFEFF"/>
          </a:solidFill>
          <a:ln w="22225">
            <a:solidFill>
              <a:srgbClr val="1B212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0" y="22402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spc="120" kern="0" dirty="0">
                <a:solidFill>
                  <a:srgbClr val="666D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PREDICTED VS ACTUAL — HELD-OUT APPLICANTS</a:t>
            </a:r>
            <a:endParaRPr lang="en-US" sz="950" dirty="0"/>
          </a:p>
        </p:txBody>
      </p:sp>
      <p:pic>
        <p:nvPicPr>
          <p:cNvPr id="14" name="Image 0" descr="charts/img_scatter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510528" y="2542032"/>
            <a:ext cx="4663440" cy="320040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822960" y="6437376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spc="180" kern="0" dirty="0">
                <a:solidFill>
                  <a:srgbClr val="9399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MAXIMUM LOAN AMOUNT MODEL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4965192" y="6437376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spc="180" kern="0" dirty="0">
                <a:solidFill>
                  <a:srgbClr val="9399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· VALIDATION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534924"/>
            <a:ext cx="201168" cy="25603"/>
          </a:xfrm>
          <a:prstGeom prst="rect">
            <a:avLst/>
          </a:prstGeom>
          <a:solidFill>
            <a:srgbClr val="306CB8"/>
          </a:solidFill>
          <a:ln/>
        </p:spPr>
      </p:sp>
      <p:sp>
        <p:nvSpPr>
          <p:cNvPr id="3" name="Text 1"/>
          <p:cNvSpPr/>
          <p:nvPr/>
        </p:nvSpPr>
        <p:spPr>
          <a:xfrm>
            <a:off x="1115568" y="411480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spc="240" kern="0" dirty="0">
                <a:solidFill>
                  <a:srgbClr val="666D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— WHAT DRIVES THE LOAN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786384" y="841248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100" b="1" spc="-50" kern="0" dirty="0">
                <a:solidFill>
                  <a:srgbClr val="1B21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factors set the limit</a:t>
            </a:r>
            <a:endParaRPr lang="en-US" sz="31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640080" y="2011680"/>
          <a:ext cx="548640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822960" y="57150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spc="120" kern="0" dirty="0">
                <a:solidFill>
                  <a:srgbClr val="666D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RELATIVE INFLUENCE ON THE PREDICTED LIMIT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6400800" y="2249424"/>
            <a:ext cx="146304" cy="23774"/>
          </a:xfrm>
          <a:prstGeom prst="rect">
            <a:avLst/>
          </a:prstGeom>
          <a:solidFill>
            <a:srgbClr val="306CB8"/>
          </a:solidFill>
          <a:ln/>
        </p:spPr>
      </p:sp>
      <p:sp>
        <p:nvSpPr>
          <p:cNvPr id="8" name="Text 5"/>
          <p:cNvSpPr/>
          <p:nvPr/>
        </p:nvSpPr>
        <p:spPr>
          <a:xfrm>
            <a:off x="6656832" y="2093976"/>
            <a:ext cx="4773168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500" b="1" dirty="0">
                <a:solidFill>
                  <a:srgbClr val="1B21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Income leads —  </a:t>
            </a:r>
            <a:pPr algn="l" indent="0" marL="0">
              <a:lnSpc>
                <a:spcPct val="106000"/>
              </a:lnSpc>
              <a:buNone/>
            </a:pPr>
            <a:r>
              <a:rPr lang="en-US" sz="1500" dirty="0">
                <a:solidFill>
                  <a:srgbClr val="3E44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single biggest driver of how much the bank will lend.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6400800" y="3090672"/>
            <a:ext cx="146304" cy="23774"/>
          </a:xfrm>
          <a:prstGeom prst="rect">
            <a:avLst/>
          </a:prstGeom>
          <a:solidFill>
            <a:srgbClr val="306CB8"/>
          </a:solidFill>
          <a:ln/>
        </p:spPr>
      </p:sp>
      <p:sp>
        <p:nvSpPr>
          <p:cNvPr id="10" name="Text 7"/>
          <p:cNvSpPr/>
          <p:nvPr/>
        </p:nvSpPr>
        <p:spPr>
          <a:xfrm>
            <a:off x="6656832" y="2935224"/>
            <a:ext cx="4773168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500" b="1" dirty="0">
                <a:solidFill>
                  <a:srgbClr val="1B21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Credit score next —  </a:t>
            </a:r>
            <a:pPr algn="l" indent="0" marL="0">
              <a:lnSpc>
                <a:spcPct val="106000"/>
              </a:lnSpc>
              <a:buNone/>
            </a:pPr>
            <a:r>
              <a:rPr lang="en-US" sz="1500" dirty="0">
                <a:solidFill>
                  <a:srgbClr val="3E44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creditworthiness scales the limit up or down.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6400800" y="3931920"/>
            <a:ext cx="146304" cy="23774"/>
          </a:xfrm>
          <a:prstGeom prst="rect">
            <a:avLst/>
          </a:prstGeom>
          <a:solidFill>
            <a:srgbClr val="306CB8"/>
          </a:solidFill>
          <a:ln/>
        </p:spPr>
      </p:sp>
      <p:sp>
        <p:nvSpPr>
          <p:cNvPr id="12" name="Text 9"/>
          <p:cNvSpPr/>
          <p:nvPr/>
        </p:nvSpPr>
        <p:spPr>
          <a:xfrm>
            <a:off x="6656832" y="3776472"/>
            <a:ext cx="4773168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500" b="1" dirty="0">
                <a:solidFill>
                  <a:srgbClr val="1B21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Debt pulls down,  </a:t>
            </a:r>
            <a:pPr algn="l" indent="0" marL="0">
              <a:lnSpc>
                <a:spcPct val="106000"/>
              </a:lnSpc>
              <a:buNone/>
            </a:pPr>
            <a:r>
              <a:rPr lang="en-US" sz="1500" dirty="0">
                <a:solidFill>
                  <a:srgbClr val="3E44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down payment nudges up — capacity and commitment.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6400800" y="4773168"/>
            <a:ext cx="146304" cy="23774"/>
          </a:xfrm>
          <a:prstGeom prst="rect">
            <a:avLst/>
          </a:prstGeom>
          <a:solidFill>
            <a:srgbClr val="306CB8"/>
          </a:solidFill>
          <a:ln/>
        </p:spPr>
      </p:sp>
      <p:sp>
        <p:nvSpPr>
          <p:cNvPr id="14" name="Text 11"/>
          <p:cNvSpPr/>
          <p:nvPr/>
        </p:nvSpPr>
        <p:spPr>
          <a:xfrm>
            <a:off x="6656832" y="4617720"/>
            <a:ext cx="4773168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500" b="1" dirty="0">
                <a:solidFill>
                  <a:srgbClr val="1B21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Everything else is noise:  </a:t>
            </a:r>
            <a:pPr algn="l" indent="0" marL="0">
              <a:lnSpc>
                <a:spcPct val="106000"/>
              </a:lnSpc>
              <a:buNone/>
            </a:pPr>
            <a:r>
              <a:rPr lang="en-US" sz="1500" dirty="0">
                <a:solidFill>
                  <a:srgbClr val="3E44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age, job, education, area add nothing once income and credit are known.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822960" y="6437376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spc="180" kern="0" dirty="0">
                <a:solidFill>
                  <a:srgbClr val="9399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MAXIMUM LOAN AMOUNT MODEL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4965192" y="6437376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spc="180" kern="0" dirty="0">
                <a:solidFill>
                  <a:srgbClr val="9399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· DRIVERS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534924"/>
            <a:ext cx="201168" cy="25603"/>
          </a:xfrm>
          <a:prstGeom prst="rect">
            <a:avLst/>
          </a:prstGeom>
          <a:solidFill>
            <a:srgbClr val="306CB8"/>
          </a:solidFill>
          <a:ln/>
        </p:spPr>
      </p:sp>
      <p:sp>
        <p:nvSpPr>
          <p:cNvPr id="3" name="Text 1"/>
          <p:cNvSpPr/>
          <p:nvPr/>
        </p:nvSpPr>
        <p:spPr>
          <a:xfrm>
            <a:off x="1115568" y="411480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spc="240" kern="0" dirty="0">
                <a:solidFill>
                  <a:srgbClr val="666D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— RECOMMENDATION &amp; NEXT STEPS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786384" y="84124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spc="-50" kern="0" dirty="0">
                <a:solidFill>
                  <a:srgbClr val="1B21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Adopt it as a first-pass limit engine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914400" y="2057400"/>
            <a:ext cx="5029200" cy="3886200"/>
          </a:xfrm>
          <a:prstGeom prst="rect">
            <a:avLst/>
          </a:prstGeom>
          <a:ln w="22225">
            <a:solidFill>
              <a:srgbClr val="306CB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1965960"/>
            <a:ext cx="5029200" cy="3886200"/>
          </a:xfrm>
          <a:prstGeom prst="rect">
            <a:avLst/>
          </a:prstGeom>
          <a:solidFill>
            <a:srgbClr val="E7F3FF"/>
          </a:solidFill>
          <a:ln w="22225">
            <a:solidFill>
              <a:srgbClr val="1B212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22402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spc="160" kern="0" dirty="0">
                <a:solidFill>
                  <a:srgbClr val="1E54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RECOMMENDATION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1097280" y="2697480"/>
            <a:ext cx="448056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1B21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 the model to propose a maximum loan instantly for every applicant, auto-approving the ~95% it sizes within ±10% and routing the rest to a human reviewer.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400800" y="2203704"/>
            <a:ext cx="146304" cy="23774"/>
          </a:xfrm>
          <a:prstGeom prst="rect">
            <a:avLst/>
          </a:prstGeom>
          <a:solidFill>
            <a:srgbClr val="306CB8"/>
          </a:solidFill>
          <a:ln/>
        </p:spPr>
      </p:sp>
      <p:sp>
        <p:nvSpPr>
          <p:cNvPr id="10" name="Text 8"/>
          <p:cNvSpPr/>
          <p:nvPr/>
        </p:nvSpPr>
        <p:spPr>
          <a:xfrm>
            <a:off x="6656832" y="2048256"/>
            <a:ext cx="4773168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500" b="1" dirty="0">
                <a:solidFill>
                  <a:srgbClr val="1B21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 in shadow mode —  </a:t>
            </a:r>
            <a:pPr algn="l" indent="0" marL="0">
              <a:lnSpc>
                <a:spcPct val="106000"/>
              </a:lnSpc>
              <a:buNone/>
            </a:pPr>
            <a:r>
              <a:rPr lang="en-US" sz="1500" dirty="0">
                <a:solidFill>
                  <a:srgbClr val="3E44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 alongside underwriters; compare before going live.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400800" y="3118104"/>
            <a:ext cx="146304" cy="23774"/>
          </a:xfrm>
          <a:prstGeom prst="rect">
            <a:avLst/>
          </a:prstGeom>
          <a:solidFill>
            <a:srgbClr val="306CB8"/>
          </a:solidFill>
          <a:ln/>
        </p:spPr>
      </p:sp>
      <p:sp>
        <p:nvSpPr>
          <p:cNvPr id="12" name="Text 10"/>
          <p:cNvSpPr/>
          <p:nvPr/>
        </p:nvSpPr>
        <p:spPr>
          <a:xfrm>
            <a:off x="6656832" y="2962656"/>
            <a:ext cx="4773168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500" b="1" dirty="0">
                <a:solidFill>
                  <a:srgbClr val="1B21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 a review band —  </a:t>
            </a:r>
            <a:pPr algn="l" indent="0" marL="0">
              <a:lnSpc>
                <a:spcPct val="106000"/>
              </a:lnSpc>
              <a:buNone/>
            </a:pPr>
            <a:r>
              <a:rPr lang="en-US" sz="1500" dirty="0">
                <a:solidFill>
                  <a:srgbClr val="3E44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flag predictions that disagree with policy by &gt; 10%.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0" y="4032504"/>
            <a:ext cx="146304" cy="23774"/>
          </a:xfrm>
          <a:prstGeom prst="rect">
            <a:avLst/>
          </a:prstGeom>
          <a:solidFill>
            <a:srgbClr val="306CB8"/>
          </a:solidFill>
          <a:ln/>
        </p:spPr>
      </p:sp>
      <p:sp>
        <p:nvSpPr>
          <p:cNvPr id="14" name="Text 12"/>
          <p:cNvSpPr/>
          <p:nvPr/>
        </p:nvSpPr>
        <p:spPr>
          <a:xfrm>
            <a:off x="6656832" y="3877056"/>
            <a:ext cx="4773168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500" b="1" dirty="0">
                <a:solidFill>
                  <a:srgbClr val="1B21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 the inputs —  </a:t>
            </a:r>
            <a:pPr algn="l" indent="0" marL="0">
              <a:lnSpc>
                <a:spcPct val="106000"/>
              </a:lnSpc>
              <a:buNone/>
            </a:pPr>
            <a:r>
              <a:rPr lang="en-US" sz="1500" dirty="0">
                <a:solidFill>
                  <a:srgbClr val="3E44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uses no demographics; document and monitor for drift.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400800" y="4946904"/>
            <a:ext cx="146304" cy="23774"/>
          </a:xfrm>
          <a:prstGeom prst="rect">
            <a:avLst/>
          </a:prstGeom>
          <a:solidFill>
            <a:srgbClr val="306CB8"/>
          </a:solidFill>
          <a:ln/>
        </p:spPr>
      </p:sp>
      <p:sp>
        <p:nvSpPr>
          <p:cNvPr id="16" name="Text 14"/>
          <p:cNvSpPr/>
          <p:nvPr/>
        </p:nvSpPr>
        <p:spPr>
          <a:xfrm>
            <a:off x="6656832" y="4791456"/>
            <a:ext cx="4773168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500" b="1" dirty="0">
                <a:solidFill>
                  <a:srgbClr val="1B21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Refresh on real data —  </a:t>
            </a:r>
            <a:pPr algn="l" indent="0" marL="0">
              <a:lnSpc>
                <a:spcPct val="106000"/>
              </a:lnSpc>
              <a:buNone/>
            </a:pPr>
            <a:r>
              <a:rPr lang="en-US" sz="1500" dirty="0">
                <a:solidFill>
                  <a:srgbClr val="3E44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retrain when a book of genuine decisions is available.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22960" y="6437376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spc="180" kern="0" dirty="0">
                <a:solidFill>
                  <a:srgbClr val="9399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MAXIMUM LOAN AMOUNT MODEL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965192" y="6437376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spc="180" kern="0" dirty="0">
                <a:solidFill>
                  <a:srgbClr val="9399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· RECOMMENDATION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B21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237976" y="777240"/>
            <a:ext cx="201168" cy="20117"/>
          </a:xfrm>
          <a:prstGeom prst="rect">
            <a:avLst/>
          </a:prstGeom>
          <a:solidFill>
            <a:srgbClr val="306CB8"/>
          </a:solidFill>
          <a:ln/>
        </p:spPr>
      </p:sp>
      <p:sp>
        <p:nvSpPr>
          <p:cNvPr id="3" name="Shape 1"/>
          <p:cNvSpPr/>
          <p:nvPr/>
        </p:nvSpPr>
        <p:spPr>
          <a:xfrm>
            <a:off x="11338560" y="676656"/>
            <a:ext cx="20117" cy="201168"/>
          </a:xfrm>
          <a:prstGeom prst="rect">
            <a:avLst/>
          </a:prstGeom>
          <a:solidFill>
            <a:srgbClr val="306CB8"/>
          </a:solidFill>
          <a:ln/>
        </p:spPr>
      </p:sp>
      <p:sp>
        <p:nvSpPr>
          <p:cNvPr id="4" name="Text 2"/>
          <p:cNvSpPr/>
          <p:nvPr/>
        </p:nvSpPr>
        <p:spPr>
          <a:xfrm>
            <a:off x="786384" y="269748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400" b="1" spc="-100" kern="0" dirty="0">
                <a:solidFill>
                  <a:srgbClr val="F8FA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822960" y="37947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AD8E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decisions &amp; background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822960" y="5212080"/>
            <a:ext cx="457200" cy="457200"/>
          </a:xfrm>
          <a:prstGeom prst="rect">
            <a:avLst/>
          </a:prstGeom>
          <a:ln w="22225">
            <a:solidFill>
              <a:srgbClr val="F8FAF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5193792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8FA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ÁS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152144" y="5266944"/>
            <a:ext cx="82296" cy="18288"/>
          </a:xfrm>
          <a:prstGeom prst="rect">
            <a:avLst/>
          </a:prstGeom>
          <a:solidFill>
            <a:srgbClr val="306CB8"/>
          </a:solidFill>
          <a:ln/>
        </p:spPr>
      </p:sp>
      <p:sp>
        <p:nvSpPr>
          <p:cNvPr id="9" name="Shape 7"/>
          <p:cNvSpPr/>
          <p:nvPr/>
        </p:nvSpPr>
        <p:spPr>
          <a:xfrm>
            <a:off x="1216152" y="5266944"/>
            <a:ext cx="18288" cy="82296"/>
          </a:xfrm>
          <a:prstGeom prst="rect">
            <a:avLst/>
          </a:prstGeom>
          <a:solidFill>
            <a:srgbClr val="306CB8"/>
          </a:solidFill>
          <a:ln/>
        </p:spPr>
      </p:sp>
      <p:sp>
        <p:nvSpPr>
          <p:cNvPr id="10" name="Text 8"/>
          <p:cNvSpPr/>
          <p:nvPr/>
        </p:nvSpPr>
        <p:spPr>
          <a:xfrm>
            <a:off x="4965192" y="6437376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spc="180" kern="0" dirty="0">
                <a:solidFill>
                  <a:srgbClr val="9399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APPENDIX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534924"/>
            <a:ext cx="201168" cy="25603"/>
          </a:xfrm>
          <a:prstGeom prst="rect">
            <a:avLst/>
          </a:prstGeom>
          <a:solidFill>
            <a:srgbClr val="306CB8"/>
          </a:solidFill>
          <a:ln/>
        </p:spPr>
      </p:sp>
      <p:sp>
        <p:nvSpPr>
          <p:cNvPr id="3" name="Text 1"/>
          <p:cNvSpPr/>
          <p:nvPr/>
        </p:nvSpPr>
        <p:spPr>
          <a:xfrm>
            <a:off x="1115568" y="411480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spc="240" kern="0" dirty="0">
                <a:solidFill>
                  <a:srgbClr val="666D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APPENDIX A — FEATURE DECISION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786384" y="841248"/>
            <a:ext cx="10607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2700" b="1" spc="-40" kern="0" dirty="0">
                <a:solidFill>
                  <a:srgbClr val="1B21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Interest rate was excluded — it's a</a:t>
            </a:r>
            <a:endParaRPr lang="en-US" sz="27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2700" b="1" spc="-40" kern="0" dirty="0">
                <a:solidFill>
                  <a:srgbClr val="1B21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 the bank sets, not an input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822960" y="2569464"/>
            <a:ext cx="146304" cy="23774"/>
          </a:xfrm>
          <a:prstGeom prst="rect">
            <a:avLst/>
          </a:prstGeom>
          <a:solidFill>
            <a:srgbClr val="306CB8"/>
          </a:solidFill>
          <a:ln/>
        </p:spPr>
      </p:sp>
      <p:sp>
        <p:nvSpPr>
          <p:cNvPr id="6" name="Text 4"/>
          <p:cNvSpPr/>
          <p:nvPr/>
        </p:nvSpPr>
        <p:spPr>
          <a:xfrm>
            <a:off x="1078992" y="2414016"/>
            <a:ext cx="5230368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550" b="1" dirty="0">
                <a:solidFill>
                  <a:srgbClr val="1B21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Near-perfectly tied to credit score  </a:t>
            </a:r>
            <a:pPr algn="l" indent="0" marL="0">
              <a:lnSpc>
                <a:spcPct val="106000"/>
              </a:lnSpc>
              <a:buNone/>
            </a:pPr>
            <a:r>
              <a:rPr lang="en-US" sz="1550" dirty="0">
                <a:solidFill>
                  <a:srgbClr val="3E44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(correlation −0.95): better credit → lower rate, almost mechanically.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822960" y="3438144"/>
            <a:ext cx="146304" cy="23774"/>
          </a:xfrm>
          <a:prstGeom prst="rect">
            <a:avLst/>
          </a:prstGeom>
          <a:solidFill>
            <a:srgbClr val="306CB8"/>
          </a:solidFill>
          <a:ln/>
        </p:spPr>
      </p:sp>
      <p:sp>
        <p:nvSpPr>
          <p:cNvPr id="8" name="Text 6"/>
          <p:cNvSpPr/>
          <p:nvPr/>
        </p:nvSpPr>
        <p:spPr>
          <a:xfrm>
            <a:off x="1078992" y="3282696"/>
            <a:ext cx="5230368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550" b="1" dirty="0">
                <a:solidFill>
                  <a:srgbClr val="1B21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Predictable from other inputs  </a:t>
            </a:r>
            <a:pPr algn="l" indent="0" marL="0">
              <a:lnSpc>
                <a:spcPct val="106000"/>
              </a:lnSpc>
              <a:buNone/>
            </a:pPr>
            <a:r>
              <a:rPr lang="en-US" sz="1550" dirty="0">
                <a:solidFill>
                  <a:srgbClr val="3E44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with 91–94% accuracy — it carries almost no new information.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822960" y="4306824"/>
            <a:ext cx="146304" cy="23774"/>
          </a:xfrm>
          <a:prstGeom prst="rect">
            <a:avLst/>
          </a:prstGeom>
          <a:solidFill>
            <a:srgbClr val="306CB8"/>
          </a:solidFill>
          <a:ln/>
        </p:spPr>
      </p:sp>
      <p:sp>
        <p:nvSpPr>
          <p:cNvPr id="10" name="Text 8"/>
          <p:cNvSpPr/>
          <p:nvPr/>
        </p:nvSpPr>
        <p:spPr>
          <a:xfrm>
            <a:off x="1078992" y="4151376"/>
            <a:ext cx="5230368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550" b="1" dirty="0">
                <a:solidFill>
                  <a:srgbClr val="1B21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Using it would be circular —  </a:t>
            </a:r>
            <a:pPr algn="l" indent="0" marL="0">
              <a:lnSpc>
                <a:spcPct val="106000"/>
              </a:lnSpc>
              <a:buNone/>
            </a:pPr>
            <a:r>
              <a:rPr lang="en-US" sz="1550" dirty="0">
                <a:solidFill>
                  <a:srgbClr val="3E44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feeding one bank decision in to predict another, and double-counting credit score.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6766560" y="2286000"/>
            <a:ext cx="4617720" cy="3200400"/>
          </a:xfrm>
          <a:prstGeom prst="rect">
            <a:avLst/>
          </a:prstGeom>
          <a:ln w="22225">
            <a:solidFill>
              <a:srgbClr val="306CB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675120" y="2194560"/>
            <a:ext cx="4617720" cy="3200400"/>
          </a:xfrm>
          <a:prstGeom prst="rect">
            <a:avLst/>
          </a:prstGeom>
          <a:solidFill>
            <a:srgbClr val="FDFEFF"/>
          </a:solidFill>
          <a:ln w="22225">
            <a:solidFill>
              <a:srgbClr val="1B212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903720" y="242316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spc="120" kern="0" dirty="0">
                <a:solidFill>
                  <a:srgbClr val="666D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INTEREST RATE VS CREDIT SCORE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6903720" y="2926080"/>
            <a:ext cx="42062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306C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−0.95
</a:t>
            </a:r>
            <a:pPr algn="l" indent="0" marL="0">
              <a:buNone/>
            </a:pPr>
            <a:r>
              <a:rPr lang="en-US" sz="1500" dirty="0">
                <a:solidFill>
                  <a:srgbClr val="3E44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correlation with credit score</a:t>
            </a:r>
            <a:endParaRPr lang="en-US" sz="5200" dirty="0"/>
          </a:p>
        </p:txBody>
      </p:sp>
      <p:sp>
        <p:nvSpPr>
          <p:cNvPr id="15" name="Text 13"/>
          <p:cNvSpPr/>
          <p:nvPr/>
        </p:nvSpPr>
        <p:spPr>
          <a:xfrm>
            <a:off x="6903720" y="4297680"/>
            <a:ext cx="4206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455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0.91–0.94
</a:t>
            </a:r>
            <a:pPr algn="l" indent="0" marL="0">
              <a:buNone/>
            </a:pPr>
            <a:r>
              <a:rPr lang="en-US" sz="1400" dirty="0">
                <a:solidFill>
                  <a:srgbClr val="3E44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predictable from applicant inputs (R²)</a:t>
            </a:r>
            <a:endParaRPr lang="en-US" sz="4000" dirty="0"/>
          </a:p>
        </p:txBody>
      </p:sp>
      <p:sp>
        <p:nvSpPr>
          <p:cNvPr id="16" name="Text 14"/>
          <p:cNvSpPr/>
          <p:nvPr/>
        </p:nvSpPr>
        <p:spPr>
          <a:xfrm>
            <a:off x="822960" y="6437376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spc="180" kern="0" dirty="0">
                <a:solidFill>
                  <a:srgbClr val="9399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MAXIMUM LOAN AMOUNT MODEL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965192" y="6437376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spc="180" kern="0" dirty="0">
                <a:solidFill>
                  <a:srgbClr val="9399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APPENDIX A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534924"/>
            <a:ext cx="201168" cy="25603"/>
          </a:xfrm>
          <a:prstGeom prst="rect">
            <a:avLst/>
          </a:prstGeom>
          <a:solidFill>
            <a:srgbClr val="306CB8"/>
          </a:solidFill>
          <a:ln/>
        </p:spPr>
      </p:sp>
      <p:sp>
        <p:nvSpPr>
          <p:cNvPr id="3" name="Text 1"/>
          <p:cNvSpPr/>
          <p:nvPr/>
        </p:nvSpPr>
        <p:spPr>
          <a:xfrm>
            <a:off x="1115568" y="411480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spc="240" kern="0" dirty="0">
                <a:solidFill>
                  <a:srgbClr val="666D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APPENDIX B — MODEL DESIGN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786384" y="841248"/>
            <a:ext cx="10607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2700" b="1" spc="-40" kern="0" dirty="0">
                <a:solidFill>
                  <a:srgbClr val="1B21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factors beat twelve — leaner</a:t>
            </a:r>
            <a:endParaRPr lang="en-US" sz="27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2700" b="1" spc="-40" kern="0" dirty="0">
                <a:solidFill>
                  <a:srgbClr val="1B21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more defensible</a:t>
            </a:r>
            <a:endParaRPr lang="en-US" sz="27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2377440"/>
          <a:ext cx="521208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1463040"/>
                <a:gridCol w="1463040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666D7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R²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666D7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Typical error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E44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 features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E444D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0.9894</a:t>
                      </a:r>
                      <a:endParaRPr lang="en-US" sz="14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E444D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$22,428</a:t>
                      </a:r>
                      <a:endParaRPr lang="en-US" sz="14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E549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 features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3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E549C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0.9897</a:t>
                      </a:r>
                      <a:endParaRPr lang="en-US" sz="14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3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E549C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$21,966</a:t>
                      </a:r>
                      <a:endParaRPr lang="en-US" sz="14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3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22960" y="4069080"/>
            <a:ext cx="52120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3E44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Same model on just income, credit score, existing debt and down payment is marginally more accurate.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6583680" y="2377440"/>
            <a:ext cx="4800600" cy="3291840"/>
          </a:xfrm>
          <a:prstGeom prst="rect">
            <a:avLst/>
          </a:prstGeom>
          <a:ln w="22225">
            <a:solidFill>
              <a:srgbClr val="306CB8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492240" y="2286000"/>
            <a:ext cx="4800600" cy="3291840"/>
          </a:xfrm>
          <a:prstGeom prst="rect">
            <a:avLst/>
          </a:prstGeom>
          <a:solidFill>
            <a:srgbClr val="FDFEFF"/>
          </a:solidFill>
          <a:ln w="22225">
            <a:solidFill>
              <a:srgbClr val="1B2129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720840" y="2487168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spc="140" kern="0" dirty="0">
                <a:solidFill>
                  <a:srgbClr val="1E54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WHY IT'S MORE DEFENSIBLE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6720840" y="3072384"/>
            <a:ext cx="146304" cy="23774"/>
          </a:xfrm>
          <a:prstGeom prst="rect">
            <a:avLst/>
          </a:prstGeom>
          <a:solidFill>
            <a:srgbClr val="306CB8"/>
          </a:solidFill>
          <a:ln/>
        </p:spPr>
      </p:sp>
      <p:sp>
        <p:nvSpPr>
          <p:cNvPr id="11" name="Text 8"/>
          <p:cNvSpPr/>
          <p:nvPr/>
        </p:nvSpPr>
        <p:spPr>
          <a:xfrm>
            <a:off x="6976872" y="2916936"/>
            <a:ext cx="4133088" cy="7863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350" b="1" dirty="0">
                <a:solidFill>
                  <a:srgbClr val="1B21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demographics.  </a:t>
            </a:r>
            <a:pPr algn="l"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3E44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Uses no gender, marital status or age — supports fair-lending (ECOA) defensibility.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6720840" y="3858768"/>
            <a:ext cx="146304" cy="23774"/>
          </a:xfrm>
          <a:prstGeom prst="rect">
            <a:avLst/>
          </a:prstGeom>
          <a:solidFill>
            <a:srgbClr val="306CB8"/>
          </a:solidFill>
          <a:ln/>
        </p:spPr>
      </p:sp>
      <p:sp>
        <p:nvSpPr>
          <p:cNvPr id="13" name="Text 10"/>
          <p:cNvSpPr/>
          <p:nvPr/>
        </p:nvSpPr>
        <p:spPr>
          <a:xfrm>
            <a:off x="6976872" y="3703320"/>
            <a:ext cx="4133088" cy="7863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350" b="1" dirty="0">
                <a:solidFill>
                  <a:srgbClr val="1B21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Job &amp; education added nothing —  </a:t>
            </a:r>
            <a:pPr algn="l"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3E44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they were just stand-ins for income.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6720840" y="4645152"/>
            <a:ext cx="146304" cy="23774"/>
          </a:xfrm>
          <a:prstGeom prst="rect">
            <a:avLst/>
          </a:prstGeom>
          <a:solidFill>
            <a:srgbClr val="306CB8"/>
          </a:solidFill>
          <a:ln/>
        </p:spPr>
      </p:sp>
      <p:sp>
        <p:nvSpPr>
          <p:cNvPr id="15" name="Text 12"/>
          <p:cNvSpPr/>
          <p:nvPr/>
        </p:nvSpPr>
        <p:spPr>
          <a:xfrm>
            <a:off x="6976872" y="4489704"/>
            <a:ext cx="4133088" cy="7863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350" b="1" dirty="0">
                <a:solidFill>
                  <a:srgbClr val="1B21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Simpler to explain  </a:t>
            </a:r>
            <a:pPr algn="l"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3E44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and to govern: four inputs, all financial.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822960" y="6437376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spc="180" kern="0" dirty="0">
                <a:solidFill>
                  <a:srgbClr val="9399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MAXIMUM LOAN AMOUNT MODEL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4965192" y="6437376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spc="180" kern="0" dirty="0">
                <a:solidFill>
                  <a:srgbClr val="9399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APPENDIX B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534924"/>
            <a:ext cx="201168" cy="25603"/>
          </a:xfrm>
          <a:prstGeom prst="rect">
            <a:avLst/>
          </a:prstGeom>
          <a:solidFill>
            <a:srgbClr val="306CB8"/>
          </a:solidFill>
          <a:ln/>
        </p:spPr>
      </p:sp>
      <p:sp>
        <p:nvSpPr>
          <p:cNvPr id="3" name="Text 1"/>
          <p:cNvSpPr/>
          <p:nvPr/>
        </p:nvSpPr>
        <p:spPr>
          <a:xfrm>
            <a:off x="1115568" y="411480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spc="240" kern="0" dirty="0">
                <a:solidFill>
                  <a:srgbClr val="666D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APPENDIX C — BACKGROUND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786384" y="841248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spc="-50" kern="0" dirty="0">
                <a:solidFill>
                  <a:srgbClr val="1B21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&amp; method, in brief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822960" y="2386584"/>
            <a:ext cx="146304" cy="23774"/>
          </a:xfrm>
          <a:prstGeom prst="rect">
            <a:avLst/>
          </a:prstGeom>
          <a:solidFill>
            <a:srgbClr val="306CB8"/>
          </a:solidFill>
          <a:ln/>
        </p:spPr>
      </p:sp>
      <p:sp>
        <p:nvSpPr>
          <p:cNvPr id="6" name="Text 4"/>
          <p:cNvSpPr/>
          <p:nvPr/>
        </p:nvSpPr>
        <p:spPr>
          <a:xfrm>
            <a:off x="1078992" y="2231136"/>
            <a:ext cx="5230368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450" b="1" dirty="0">
                <a:solidFill>
                  <a:srgbClr val="1B21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Dataset:  </a:t>
            </a:r>
            <a:pPr algn="l" indent="0" marL="0">
              <a:lnSpc>
                <a:spcPct val="106000"/>
              </a:lnSpc>
              <a:buNone/>
            </a:pPr>
            <a:r>
              <a:rPr lang="en-US" sz="1450" dirty="0">
                <a:solidFill>
                  <a:srgbClr val="3E44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49,990 mortgage applicants, 13 attributes. Clean — no missing values or duplicates; 41 minor anomalies kept and flagged.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822960" y="3255264"/>
            <a:ext cx="146304" cy="23774"/>
          </a:xfrm>
          <a:prstGeom prst="rect">
            <a:avLst/>
          </a:prstGeom>
          <a:solidFill>
            <a:srgbClr val="306CB8"/>
          </a:solidFill>
          <a:ln/>
        </p:spPr>
      </p:sp>
      <p:sp>
        <p:nvSpPr>
          <p:cNvPr id="8" name="Text 6"/>
          <p:cNvSpPr/>
          <p:nvPr/>
        </p:nvSpPr>
        <p:spPr>
          <a:xfrm>
            <a:off x="1078992" y="3099816"/>
            <a:ext cx="5230368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450" b="1" dirty="0">
                <a:solidFill>
                  <a:srgbClr val="1B21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Held-out target:  </a:t>
            </a:r>
            <a:pPr algn="l" indent="0" marL="0">
              <a:lnSpc>
                <a:spcPct val="106000"/>
              </a:lnSpc>
              <a:buNone/>
            </a:pPr>
            <a:r>
              <a:rPr lang="en-US" sz="1450" dirty="0">
                <a:solidFill>
                  <a:srgbClr val="3E44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actual maximum loan was never used in training — only to score the model at the end.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822960" y="4123944"/>
            <a:ext cx="146304" cy="23774"/>
          </a:xfrm>
          <a:prstGeom prst="rect">
            <a:avLst/>
          </a:prstGeom>
          <a:solidFill>
            <a:srgbClr val="306CB8"/>
          </a:solidFill>
          <a:ln/>
        </p:spPr>
      </p:sp>
      <p:sp>
        <p:nvSpPr>
          <p:cNvPr id="10" name="Text 8"/>
          <p:cNvSpPr/>
          <p:nvPr/>
        </p:nvSpPr>
        <p:spPr>
          <a:xfrm>
            <a:off x="1078992" y="3968496"/>
            <a:ext cx="5230368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450" b="1" dirty="0">
                <a:solidFill>
                  <a:srgbClr val="1B21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Models compared:  </a:t>
            </a:r>
            <a:pPr algn="l" indent="0" marL="0">
              <a:lnSpc>
                <a:spcPct val="106000"/>
              </a:lnSpc>
              <a:buNone/>
            </a:pPr>
            <a:r>
              <a:rPr lang="en-US" sz="1450" dirty="0">
                <a:solidFill>
                  <a:srgbClr val="3E44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linear, random forest and gradient boosting, on raw and log scales — six combinations under one test.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822960" y="4992624"/>
            <a:ext cx="146304" cy="23774"/>
          </a:xfrm>
          <a:prstGeom prst="rect">
            <a:avLst/>
          </a:prstGeom>
          <a:solidFill>
            <a:srgbClr val="306CB8"/>
          </a:solidFill>
          <a:ln/>
        </p:spPr>
      </p:sp>
      <p:sp>
        <p:nvSpPr>
          <p:cNvPr id="12" name="Text 10"/>
          <p:cNvSpPr/>
          <p:nvPr/>
        </p:nvSpPr>
        <p:spPr>
          <a:xfrm>
            <a:off x="1078992" y="4837176"/>
            <a:ext cx="5230368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450" b="1" dirty="0">
                <a:solidFill>
                  <a:srgbClr val="1B21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Chosen:  </a:t>
            </a:r>
            <a:pPr algn="l" indent="0" marL="0">
              <a:lnSpc>
                <a:spcPct val="106000"/>
              </a:lnSpc>
              <a:buNone/>
            </a:pPr>
            <a:r>
              <a:rPr lang="en-US" sz="1450" dirty="0">
                <a:solidFill>
                  <a:srgbClr val="3E44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gradient boosting (raw) — clearly the most accurate and stable.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6766560" y="2286000"/>
            <a:ext cx="4617720" cy="3291840"/>
          </a:xfrm>
          <a:prstGeom prst="rect">
            <a:avLst/>
          </a:prstGeom>
          <a:ln w="22225">
            <a:solidFill>
              <a:srgbClr val="306CB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675120" y="2194560"/>
            <a:ext cx="4617720" cy="3291840"/>
          </a:xfrm>
          <a:prstGeom prst="rect">
            <a:avLst/>
          </a:prstGeom>
          <a:solidFill>
            <a:srgbClr val="FDFEFF"/>
          </a:solidFill>
          <a:ln w="22225">
            <a:solidFill>
              <a:srgbClr val="1B212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903720" y="2395728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spc="120" kern="0" dirty="0">
                <a:solidFill>
                  <a:srgbClr val="666D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 COMPARISON — TYPICAL ERROR</a:t>
            </a:r>
            <a:endParaRPr lang="en-US" sz="950" dirty="0"/>
          </a:p>
        </p:txBody>
      </p:sp>
      <p:graphicFrame>
        <p:nvGraphicFramePr>
          <p:cNvPr id="16" name="Chart 0" descr=""/>
          <p:cNvGraphicFramePr/>
          <p:nvPr/>
        </p:nvGraphicFramePr>
        <p:xfrm>
          <a:off x="6858000" y="2697480"/>
          <a:ext cx="4251960" cy="2697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7" name="Text 14"/>
          <p:cNvSpPr/>
          <p:nvPr/>
        </p:nvSpPr>
        <p:spPr>
          <a:xfrm>
            <a:off x="822960" y="6437376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spc="180" kern="0" dirty="0">
                <a:solidFill>
                  <a:srgbClr val="9399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MAXIMUM LOAN AMOUNT MODEL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4965192" y="6437376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spc="180" kern="0" dirty="0">
                <a:solidFill>
                  <a:srgbClr val="9399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APPENDIX C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2026-07-01T14:40:49Z</dcterms:created>
  <dcterms:modified xsi:type="dcterms:W3CDTF">2026-07-01T14:40:49Z</dcterms:modified>
</cp:coreProperties>
</file>