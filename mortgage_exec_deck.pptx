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06C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06C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5E7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55E7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Annual income</c:v>
                  </c:pt>
                  <c:pt idx="1">
                    <c:v>Credit score</c:v>
                  </c:pt>
                  <c:pt idx="2">
                    <c:v>Existing monthly debt</c:v>
                  </c:pt>
                  <c:pt idx="3">
                    <c:v>Down payment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1.44</c:v>
                </c:pt>
                <c:pt idx="1">
                  <c:v>0.65</c:v>
                </c:pt>
                <c:pt idx="2">
                  <c:v>0.34</c:v>
                </c:pt>
                <c:pt idx="3">
                  <c:v>0.03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&quot;$&quot;0.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06C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5E7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99A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Gradient
boosting</c:v>
                  </c:pt>
                  <c:pt idx="1">
                    <c:v>Random
forest</c:v>
                  </c:pt>
                  <c:pt idx="2">
                    <c:v>Linear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22.4</c:v>
                </c:pt>
                <c:pt idx="1">
                  <c:v>24.3</c:v>
                </c:pt>
                <c:pt idx="2">
                  <c:v>51.9</c:v>
                </c:pt>
              </c:numCache>
            </c:numRef>
          </c:val>
        </c:ser>
        <c:dLbls>
          <c:numFmt formatCode="&quot;$&quot;0.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Shape 2"/>
          <p:cNvSpPr/>
          <p:nvPr/>
        </p:nvSpPr>
        <p:spPr>
          <a:xfrm>
            <a:off x="11237976" y="608076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598017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2656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1031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MORTGAGE CREDIT · MODEL SUMMARY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24688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loan amount</a:t>
            </a:r>
            <a:pPr indent="0" marL="0">
              <a:lnSpc>
                <a:spcPct val="100000"/>
              </a:lnSpc>
              <a:buNone/>
            </a:pP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the bank's responsible lending limit from applicant data — validated against the actual decisions it has held out.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ln w="22225">
            <a:solidFill>
              <a:srgbClr val="1B21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376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52144" y="544982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6152" y="544982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BRIEFING · 2026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this deck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92938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25856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ask, the answer, the headline result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6791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4261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trust the model?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29718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against the held-out actual decisions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3558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the loan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68503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factors that set the limit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410565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4069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next steps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439826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put it to work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73252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2377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interest rate was excluded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732520" y="3090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89720" y="30906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factors &amp; fair lending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32520" y="38039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380390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 background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EXECUTIVE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reproduces lending</a:t>
            </a:r>
            <a:endParaRPr lang="en-US" sz="3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1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to within ~4%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24612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39572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 EXPLAINED (R²)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2286000"/>
            <a:ext cx="324612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9" name="Text 7"/>
          <p:cNvSpPr/>
          <p:nvPr/>
        </p:nvSpPr>
        <p:spPr>
          <a:xfrm>
            <a:off x="4407408" y="239572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±$22.0k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3484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 ERROR (MAE)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4612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12" name="Text 10"/>
          <p:cNvSpPr/>
          <p:nvPr/>
        </p:nvSpPr>
        <p:spPr>
          <a:xfrm>
            <a:off x="8019288" y="239572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94.9%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04672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±10% OF ACTUAL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9410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3785616"/>
            <a:ext cx="103510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 </a:t>
            </a:r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the maximum loan the bank should responsibly offer each applicant, from their financial profile alone.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69087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4535424"/>
            <a:ext cx="103510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answer:  </a:t>
            </a:r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gradient-boosting model predicts that limit with high accuracy — and we validated it against the real decisions, which were never shown to the model.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544068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5285232"/>
            <a:ext cx="103510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 </a:t>
            </a:r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consistent, explainable loan sizing — a fast first-pass limit for ~95% of applicants, with the rare large miss easy to flag for review.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EXECUTIVE SUMMARY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CAN WE TRUST THE MODEL?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land on the bank's</a:t>
            </a:r>
            <a:endParaRPr lang="en-US" sz="2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decisions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14016"/>
            <a:ext cx="49560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honestly.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9,998 applicants the model never saw in training.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3924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36976"/>
            <a:ext cx="49560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line.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point is one applicant; the closer to the dashed line, the closer the prediction to the real limit.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153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59936"/>
            <a:ext cx="49560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size blind spot.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holds from the smallest to the largest loans.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2148840"/>
            <a:ext cx="4892040" cy="384048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057400"/>
            <a:ext cx="4892040" cy="384048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VS ACTUAL — HELD-OUT APPLICANTS</a:t>
            </a:r>
            <a:endParaRPr lang="en-US" sz="950" dirty="0"/>
          </a:p>
        </p:txBody>
      </p:sp>
      <p:pic>
        <p:nvPicPr>
          <p:cNvPr id="14" name="Image 0" descr="img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10528" y="2542032"/>
            <a:ext cx="4663440" cy="3200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WHAT DRIVES THE LOAN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factors set the limit</a:t>
            </a:r>
            <a:endParaRPr lang="en-US" sz="3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15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 INFLUENCE ON THE PREDICTED LIMIT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400800" y="22494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5"/>
          <p:cNvSpPr/>
          <p:nvPr/>
        </p:nvSpPr>
        <p:spPr>
          <a:xfrm>
            <a:off x="6656832" y="2093976"/>
            <a:ext cx="47731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leads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 biggest driver of how much the bank will lend.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309067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7"/>
          <p:cNvSpPr/>
          <p:nvPr/>
        </p:nvSpPr>
        <p:spPr>
          <a:xfrm>
            <a:off x="6656832" y="2935224"/>
            <a:ext cx="47731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score next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creditworthiness scales the limit up or down.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0" y="393192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9"/>
          <p:cNvSpPr/>
          <p:nvPr/>
        </p:nvSpPr>
        <p:spPr>
          <a:xfrm>
            <a:off x="6656832" y="3776472"/>
            <a:ext cx="47731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pulls down,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 payment nudges up — capacity and commitment.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477316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4" name="Text 11"/>
          <p:cNvSpPr/>
          <p:nvPr/>
        </p:nvSpPr>
        <p:spPr>
          <a:xfrm>
            <a:off x="6656832" y="4617720"/>
            <a:ext cx="47731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is noise: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age, job, education, area add nothing once income and credit are known.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DRIVERS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RECOMMENDATION &amp; NEXT STEPS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it as a first-pass limit engine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5029200" cy="388620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029200" cy="3886200"/>
          </a:xfrm>
          <a:prstGeom prst="rect">
            <a:avLst/>
          </a:prstGeom>
          <a:solidFill>
            <a:srgbClr val="E7F3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1E5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21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model to propose a maximum loan instantly for every applicant, auto-approving the ~95% it sizes within ±10% and routing the rest to a human reviewer.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2037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6656832" y="2048256"/>
            <a:ext cx="4773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shadow mode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alongside underwriters; compare before going live.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31181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2962656"/>
            <a:ext cx="4773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review band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predictions that disagree with policy by &gt; 10%.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40325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4" name="Text 12"/>
          <p:cNvSpPr/>
          <p:nvPr/>
        </p:nvSpPr>
        <p:spPr>
          <a:xfrm>
            <a:off x="6656832" y="3877056"/>
            <a:ext cx="4773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the inputs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no demographics; document and monitor for drift.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49469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4791456"/>
            <a:ext cx="4773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on real data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when a book of genuine decisions is available.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RECOMMENDATION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797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2697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 &amp; background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457200" cy="457200"/>
          </a:xfrm>
          <a:prstGeom prst="rect">
            <a:avLst/>
          </a:prstGeom>
          <a:ln w="22225">
            <a:solidFill>
              <a:srgbClr val="F8FA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1937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52144" y="526694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526694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A — FEATURE DECISION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 was excluded — it's a</a:t>
            </a:r>
            <a:endParaRPr lang="en-US" sz="2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the bank sets, not an input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1401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Near-perfectly tied to credit score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(correlation −0.95): better credit → lower rate, almost mechanically.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4381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8269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from other inputs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91–94% accuracy — it carries almost no new information.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3068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5137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it would be circular —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feeding one bank decision in to predict another, and double-counting credit score.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66560" y="2286000"/>
            <a:ext cx="4617720" cy="320040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2194560"/>
            <a:ext cx="4617720" cy="320040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423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 RATE VS CREDIT SCORE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03720" y="292608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306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−0.95
</a:t>
            </a:r>
            <a:pPr algn="l" indent="0" marL="0"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credit score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903720" y="42976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5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0.91–0.94
</a:t>
            </a:r>
            <a:pPr algn="l" indent="0" marL="0"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from applicant inputs (R²)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B — MODEL DESIGN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factors beat twelve — leaner</a:t>
            </a:r>
            <a:endParaRPr lang="en-US" sz="2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more defensible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77440"/>
          <a:ext cx="5212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R²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Typical error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E44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features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0.9894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$22,428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549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features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549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0.9897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549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$21,966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0690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 on just income, credit score, existing debt and down payment is marginally more accurate.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0" y="2377440"/>
            <a:ext cx="4800600" cy="329184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2286000"/>
            <a:ext cx="4800600" cy="329184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2487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1E5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MORE DEFENSIBLE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720840" y="30723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1" name="Text 8"/>
          <p:cNvSpPr/>
          <p:nvPr/>
        </p:nvSpPr>
        <p:spPr>
          <a:xfrm>
            <a:off x="6976872" y="2916936"/>
            <a:ext cx="41330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demographics.  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no gender, marital status or age — supports fair-lending (ECOA) defensibility.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20840" y="385876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3" name="Text 10"/>
          <p:cNvSpPr/>
          <p:nvPr/>
        </p:nvSpPr>
        <p:spPr>
          <a:xfrm>
            <a:off x="6976872" y="3703320"/>
            <a:ext cx="41330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&amp; education added nothing —  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were just stand-ins for income.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20840" y="464515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5" name="Text 12"/>
          <p:cNvSpPr/>
          <p:nvPr/>
        </p:nvSpPr>
        <p:spPr>
          <a:xfrm>
            <a:off x="6976872" y="4489704"/>
            <a:ext cx="41330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to explain  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to govern: four inputs, all financial.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B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C — BACKGROUND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method, in brief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865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23113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49,990 mortgage applicants, 13 attributes. Clean — no missing values or duplicates; 41 minor anomalies kept and flagged.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2552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09981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target: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maximum loan was never used in training — only to score the model at the end.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1239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6849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linear, random forest and gradient boosting, on raw and log scales — six combinations under one test.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9926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83717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(raw) — clearly the most accurate and stable.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766560" y="2286000"/>
            <a:ext cx="4617720" cy="329184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194560"/>
            <a:ext cx="4617720" cy="329184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3957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COMPARISON — TYPICAL ERROR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858000" y="2697480"/>
          <a:ext cx="42519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2026-06-30T10:10:53Z</dcterms:created>
  <dcterms:modified xsi:type="dcterms:W3CDTF">2026-06-30T10:10:53Z</dcterms:modified>
</cp:coreProperties>
</file>